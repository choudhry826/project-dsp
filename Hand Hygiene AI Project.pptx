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media/image2.png" ContentType="image/png"/>
  <Override PartName="/ppt/media/image53.png" ContentType="image/png"/>
  <Override PartName="/ppt/media/image43.png" ContentType="image/png"/>
  <Override PartName="/ppt/media/image77.png" ContentType="image/png"/>
  <Override PartName="/ppt/media/image41.png" ContentType="image/png"/>
  <Override PartName="/ppt/media/image75.png" ContentType="image/png"/>
  <Override PartName="/ppt/media/image44.png" ContentType="image/png"/>
  <Override PartName="/ppt/media/image10.png" ContentType="image/png"/>
  <Override PartName="/ppt/media/image78.png" ContentType="image/png"/>
  <Override PartName="/ppt/media/image42.png" ContentType="image/png"/>
  <Override PartName="/ppt/media/image76.png" ContentType="image/png"/>
  <Override PartName="/ppt/media/image1.png" ContentType="image/png"/>
  <Override PartName="/ppt/media/image52.png" ContentType="image/png"/>
  <Override PartName="/ppt/media/image27.png" ContentType="image/png"/>
  <Override PartName="/ppt/media/image14.png" ContentType="image/png"/>
  <Override PartName="/ppt/media/image48.png" ContentType="image/png"/>
  <Override PartName="/ppt/media/image45.png" ContentType="image/png"/>
  <Override PartName="/ppt/media/image11.png" ContentType="image/png"/>
  <Override PartName="/ppt/media/image79.png" ContentType="image/png"/>
  <Override PartName="/ppt/media/image28.png" ContentType="image/png"/>
  <Override PartName="/ppt/media/image15.png" ContentType="image/png"/>
  <Override PartName="/ppt/media/image49.png" ContentType="image/png"/>
  <Override PartName="/ppt/media/image46.png" ContentType="image/png"/>
  <Override PartName="/ppt/media/image12.png" ContentType="image/png"/>
  <Override PartName="/ppt/media/image29.png" ContentType="image/png"/>
  <Override PartName="/ppt/media/image16.png" ContentType="image/png"/>
  <Override PartName="/ppt/media/image47.png" ContentType="image/png"/>
  <Override PartName="/ppt/media/image13.png" ContentType="image/png"/>
  <Override PartName="/ppt/media/image7.png" ContentType="image/png"/>
  <Override PartName="/ppt/media/image24.png" ContentType="image/png"/>
  <Override PartName="/ppt/media/image58.png" ContentType="image/png"/>
  <Override PartName="/ppt/media/image17.png" ContentType="image/png"/>
  <Override PartName="/ppt/media/image18.png" ContentType="image/png"/>
  <Override PartName="/ppt/media/image26.png" ContentType="image/png"/>
  <Override PartName="/ppt/media/image9.png" ContentType="image/png"/>
  <Override PartName="/ppt/media/image19.png" ContentType="image/png"/>
  <Override PartName="/ppt/media/image21.png" ContentType="image/png"/>
  <Override PartName="/ppt/media/image4.png" ContentType="image/png"/>
  <Override PartName="/ppt/media/image55.png" ContentType="image/png"/>
  <Override PartName="/ppt/media/image56.png" ContentType="image/png"/>
  <Override PartName="/ppt/media/image5.png" ContentType="image/png"/>
  <Override PartName="/ppt/media/image22.png" ContentType="image/png"/>
  <Override PartName="/ppt/media/image8.png" ContentType="image/png"/>
  <Override PartName="/ppt/media/image25.png" ContentType="image/png"/>
  <Override PartName="/ppt/media/image59.png" ContentType="image/png"/>
  <Override PartName="/ppt/media/image20.png" ContentType="image/png"/>
  <Override PartName="/ppt/media/image3.png" ContentType="image/png"/>
  <Override PartName="/ppt/media/image54.png" ContentType="image/png"/>
  <Override PartName="/ppt/media/image23.png" ContentType="image/png"/>
  <Override PartName="/ppt/media/image6.png" ContentType="image/png"/>
  <Override PartName="/ppt/media/image57.png" ContentType="image/png"/>
  <Override PartName="/ppt/media/image30.png" ContentType="image/png"/>
  <Override PartName="/ppt/media/image64.png" ContentType="image/png"/>
  <Override PartName="/ppt/media/image67.png" ContentType="image/png"/>
  <Override PartName="/ppt/media/image33.png" ContentType="image/png"/>
  <Override PartName="/ppt/media/image32.png" ContentType="image/png"/>
  <Override PartName="/ppt/media/image66.png" ContentType="image/png"/>
  <Override PartName="/ppt/media/image69.png" ContentType="image/png"/>
  <Override PartName="/ppt/media/image35.png" ContentType="image/png"/>
  <Override PartName="/ppt/media/image36.png" ContentType="image/png"/>
  <Override PartName="/ppt/media/image34.png" ContentType="image/png"/>
  <Override PartName="/ppt/media/image68.png" ContentType="image/png"/>
  <Override PartName="/ppt/media/image37.png" ContentType="image/png"/>
  <Override PartName="/ppt/media/image38.png" ContentType="image/png"/>
  <Override PartName="/ppt/media/image71.png" ContentType="image/png"/>
  <Override PartName="/ppt/media/image40.png" ContentType="image/png"/>
  <Override PartName="/ppt/media/image74.png" ContentType="image/png"/>
  <Override PartName="/ppt/media/image81.png" ContentType="image/png"/>
  <Override PartName="/ppt/media/image50.png" ContentType="image/png"/>
  <Override PartName="/ppt/media/image65.png" ContentType="image/png"/>
  <Override PartName="/ppt/media/image31.png" ContentType="image/png"/>
  <Override PartName="/ppt/media/image62.png" ContentType="image/png"/>
  <Override PartName="/ppt/media/image80.png" ContentType="image/png"/>
  <Override PartName="/ppt/media/image51.png" ContentType="image/png"/>
  <Override PartName="/ppt/media/image63.png" ContentType="image/png"/>
  <Override PartName="/ppt/media/image39.png" ContentType="image/png"/>
  <Override PartName="/ppt/media/image70.png" ContentType="image/png"/>
  <Override PartName="/ppt/media/image61.png" ContentType="image/png"/>
  <Override PartName="/ppt/media/image73.png" ContentType="image/png"/>
  <Override PartName="/ppt/media/image60.png" ContentType="image/png"/>
  <Override PartName="/ppt/media/image72.png" ContentType="image/png"/>
  <Override PartName="/ppt/_rels/presentation.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_rels/slideLayout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slides/slide38.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41.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42.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_rels/slide40.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11.xml.rels" ContentType="application/vnd.openxmlformats-package.relationships+xml"/>
  <Override PartName="/ppt/slides/_rels/slide42.xml.rels" ContentType="application/vnd.openxmlformats-package.relationships+xml"/>
  <Override PartName="/ppt/slides/_rels/slide13.xml.rels" ContentType="application/vnd.openxmlformats-package.relationships+xml"/>
  <Override PartName="/ppt/slides/_rels/slide39.xml.rels" ContentType="application/vnd.openxmlformats-package.relationships+xml"/>
  <Override PartName="/ppt/slides/_rels/slide10.xml.rels" ContentType="application/vnd.openxmlformats-package.relationships+xml"/>
  <Override PartName="/ppt/slides/_rels/slide41.xml.rels" ContentType="application/vnd.openxmlformats-package.relationships+xml"/>
  <Override PartName="/ppt/slides/_rels/slide12.xml.rels" ContentType="application/vnd.openxmlformats-package.relationships+xml"/>
  <Override PartName="/ppt/slides/_rels/slide38.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slide26.xml" ContentType="application/vnd.openxmlformats-officedocument.presentationml.slide+xml"/>
  <Override PartName="/ppt/slides/slide27.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84E3E88-4BEB-4FA1-A230-2069BEE74E6F}"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1C35F0D-6D77-4466-85C9-41B64793FFD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1E97B36-4EBC-4273-8BC2-C5B9B07EB67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7D16914-1DAE-44C6-92FA-55664CEF90A6}"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749A540-AF70-4648-A501-A40111EEA380}"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77FAA38A-81F2-4F24-B8CA-8F8F9BEBB823}"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38B7B8F-3DBF-49CA-9261-728F317D2DB8}"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8A38D07-4BD0-45B7-8AD8-6C33F0FE67F5}"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35A39AE-01AE-4C85-A94D-839B0DE80B8F}"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2C7A0E5-9430-4962-B099-2D31F315CC97}"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0F18456-AD3C-41E5-9259-84D8271B52B1}"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6BA24A2-1DFF-4D79-9090-8537E4EA0B7A}"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F3C5296-9A52-4E1F-803A-476DE073E382}"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63.png"/><Relationship Id="rId3"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 name="Google Shape;84;p13" descr="image.png"/>
          <p:cNvPicPr/>
          <p:nvPr/>
        </p:nvPicPr>
        <p:blipFill>
          <a:blip r:embed="rId1"/>
          <a:stretch/>
        </p:blipFill>
        <p:spPr>
          <a:xfrm>
            <a:off x="0" y="0"/>
            <a:ext cx="12191760" cy="6857640"/>
          </a:xfrm>
          <a:prstGeom prst="rect">
            <a:avLst/>
          </a:prstGeom>
          <a:ln w="0">
            <a:noFill/>
          </a:ln>
        </p:spPr>
      </p:pic>
      <p:sp>
        <p:nvSpPr>
          <p:cNvPr id="42" name="Google Shape;85;p13"/>
          <p:cNvSpPr/>
          <p:nvPr/>
        </p:nvSpPr>
        <p:spPr>
          <a:xfrm>
            <a:off x="1430280" y="2291760"/>
            <a:ext cx="9330840" cy="1809720"/>
          </a:xfrm>
          <a:prstGeom prst="rect">
            <a:avLst/>
          </a:prstGeom>
          <a:noFill/>
          <a:ln w="0">
            <a:noFill/>
          </a:ln>
        </p:spPr>
        <p:style>
          <a:lnRef idx="0"/>
          <a:fillRef idx="0"/>
          <a:effectRef idx="0"/>
          <a:fontRef idx="minor"/>
        </p:style>
        <p:txBody>
          <a:bodyPr lIns="0" rIns="0" tIns="0" bIns="0" anchor="t">
            <a:spAutoFit/>
          </a:bodyPr>
          <a:p>
            <a:pPr algn="ctr">
              <a:lnSpc>
                <a:spcPct val="110000"/>
              </a:lnSpc>
              <a:tabLst>
                <a:tab algn="l" pos="0"/>
              </a:tabLst>
            </a:pPr>
            <a:r>
              <a:rPr b="1" lang="en-US" sz="5400" spc="-1" strike="noStrike">
                <a:solidFill>
                  <a:srgbClr val="f8fafc"/>
                </a:solidFill>
                <a:latin typeface="Outfit"/>
                <a:ea typeface="Outfit"/>
              </a:rPr>
              <a:t>AI-Powered </a:t>
            </a:r>
            <a:r>
              <a:rPr b="1" lang="en-US" sz="5400" spc="-1" strike="noStrike">
                <a:solidFill>
                  <a:srgbClr val="38bdf8"/>
                </a:solidFill>
                <a:latin typeface="Outfit"/>
                <a:ea typeface="Outfit"/>
              </a:rPr>
              <a:t>Hand Hygiene</a:t>
            </a:r>
            <a:endParaRPr b="0" lang="en-US" sz="5400" spc="-1" strike="noStrike">
              <a:solidFill>
                <a:srgbClr val="000000"/>
              </a:solidFill>
              <a:latin typeface="Arial"/>
            </a:endParaRPr>
          </a:p>
        </p:txBody>
      </p:sp>
      <p:sp>
        <p:nvSpPr>
          <p:cNvPr id="43" name="Google Shape;86;p13"/>
          <p:cNvSpPr/>
          <p:nvPr/>
        </p:nvSpPr>
        <p:spPr>
          <a:xfrm>
            <a:off x="1652760" y="3331800"/>
            <a:ext cx="8886600" cy="101700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2100" spc="-1" strike="noStrike">
                <a:solidFill>
                  <a:srgbClr val="cbd5e1"/>
                </a:solidFill>
                <a:latin typeface="Inter SemiBold"/>
                <a:ea typeface="Inter SemiBold"/>
              </a:rPr>
              <a:t>Using UV Imaging &amp; YOLOv8 Object Detection to Classify Cleanliness</a:t>
            </a:r>
            <a:endParaRPr b="0" lang="en-US" sz="2100" spc="-1" strike="noStrike">
              <a:solidFill>
                <a:srgbClr val="000000"/>
              </a:solidFill>
              <a:latin typeface="Arial"/>
            </a:endParaRPr>
          </a:p>
        </p:txBody>
      </p:sp>
      <p:sp>
        <p:nvSpPr>
          <p:cNvPr id="44" name="Google Shape;87;p13"/>
          <p:cNvSpPr/>
          <p:nvPr/>
        </p:nvSpPr>
        <p:spPr>
          <a:xfrm>
            <a:off x="1652760" y="4139640"/>
            <a:ext cx="8886600" cy="16430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350" spc="-1" strike="noStrike">
                <a:solidFill>
                  <a:srgbClr val="94a3b8"/>
                </a:solidFill>
                <a:latin typeface="Inter Medium"/>
                <a:ea typeface="Inter Medium"/>
              </a:rPr>
              <a:t>Discipline-Specific Artificial Intelligence Project</a:t>
            </a:r>
            <a:endParaRPr b="0" lang="en-US" sz="1350" spc="-1" strike="noStrike">
              <a:solidFill>
                <a:srgbClr val="000000"/>
              </a:solidFill>
              <a:latin typeface="Arial"/>
            </a:endParaRPr>
          </a:p>
          <a:p>
            <a:pPr algn="ctr">
              <a:lnSpc>
                <a:spcPct val="160000"/>
              </a:lnSpc>
              <a:tabLst>
                <a:tab algn="l" pos="0"/>
              </a:tabLst>
            </a:pPr>
            <a:r>
              <a:rPr b="0" lang="en-US" sz="1350" spc="-1" strike="noStrike">
                <a:solidFill>
                  <a:srgbClr val="94a3b8"/>
                </a:solidFill>
                <a:latin typeface="Inter Medium"/>
                <a:ea typeface="Inter Medium"/>
              </a:rPr>
              <a:t>Team Members</a:t>
            </a:r>
            <a:endParaRPr b="0" lang="en-US" sz="1350" spc="-1" strike="noStrike">
              <a:solidFill>
                <a:srgbClr val="000000"/>
              </a:solidFill>
              <a:latin typeface="Arial"/>
            </a:endParaRPr>
          </a:p>
          <a:p>
            <a:pPr algn="ctr">
              <a:lnSpc>
                <a:spcPct val="160000"/>
              </a:lnSpc>
              <a:tabLst>
                <a:tab algn="l" pos="0"/>
              </a:tabLst>
            </a:pPr>
            <a:r>
              <a:rPr b="0" lang="en-US" sz="1350" spc="-1" strike="noStrike">
                <a:solidFill>
                  <a:srgbClr val="94a3b8"/>
                </a:solidFill>
                <a:latin typeface="Inter Medium"/>
                <a:ea typeface="Inter Medium"/>
              </a:rPr>
              <a:t>Muneeb Choudhry</a:t>
            </a:r>
            <a:endParaRPr b="0" lang="en-US" sz="1350" spc="-1" strike="noStrike">
              <a:solidFill>
                <a:srgbClr val="000000"/>
              </a:solidFill>
              <a:latin typeface="Arial"/>
            </a:endParaRPr>
          </a:p>
          <a:p>
            <a:pPr algn="ctr">
              <a:lnSpc>
                <a:spcPct val="160000"/>
              </a:lnSpc>
              <a:tabLst>
                <a:tab algn="l" pos="0"/>
              </a:tabLst>
            </a:pPr>
            <a:r>
              <a:rPr b="0" lang="en-US" sz="1350" spc="-1" strike="noStrike">
                <a:solidFill>
                  <a:srgbClr val="94a3b8"/>
                </a:solidFill>
                <a:latin typeface="Inter Medium"/>
                <a:ea typeface="Inter Medium"/>
              </a:rPr>
              <a:t>Jawad Goraya</a:t>
            </a:r>
            <a:endParaRPr b="0" lang="en-US" sz="1350" spc="-1" strike="noStrike">
              <a:solidFill>
                <a:srgbClr val="000000"/>
              </a:solidFill>
              <a:latin typeface="Arial"/>
            </a:endParaRPr>
          </a:p>
          <a:p>
            <a:pPr algn="ctr">
              <a:lnSpc>
                <a:spcPct val="160000"/>
              </a:lnSpc>
              <a:tabLst>
                <a:tab algn="l" pos="0"/>
              </a:tabLst>
            </a:pPr>
            <a:r>
              <a:rPr b="0" lang="en-US" sz="1350" spc="-1" strike="noStrike">
                <a:solidFill>
                  <a:srgbClr val="94a3b8"/>
                </a:solidFill>
                <a:latin typeface="Inter Medium"/>
                <a:ea typeface="Inter Medium"/>
              </a:rPr>
              <a:t>Gaurav</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45" name="Google Shape;92;p14" descr="image.png"/>
          <p:cNvPicPr/>
          <p:nvPr/>
        </p:nvPicPr>
        <p:blipFill>
          <a:blip r:embed="rId1"/>
          <a:stretch/>
        </p:blipFill>
        <p:spPr>
          <a:xfrm>
            <a:off x="571680" y="1490760"/>
            <a:ext cx="5285880" cy="4781160"/>
          </a:xfrm>
          <a:prstGeom prst="rect">
            <a:avLst/>
          </a:prstGeom>
          <a:ln w="0">
            <a:noFill/>
          </a:ln>
        </p:spPr>
      </p:pic>
      <p:pic>
        <p:nvPicPr>
          <p:cNvPr id="46" name="Google Shape;93;p14" descr="image.png"/>
          <p:cNvPicPr/>
          <p:nvPr/>
        </p:nvPicPr>
        <p:blipFill>
          <a:blip r:embed="rId2"/>
          <a:stretch/>
        </p:blipFill>
        <p:spPr>
          <a:xfrm>
            <a:off x="6334200" y="1490760"/>
            <a:ext cx="5285880" cy="4781160"/>
          </a:xfrm>
          <a:prstGeom prst="rect">
            <a:avLst/>
          </a:prstGeom>
          <a:ln w="0">
            <a:noFill/>
          </a:ln>
        </p:spPr>
      </p:pic>
      <p:sp>
        <p:nvSpPr>
          <p:cNvPr id="47" name="Google Shape;94;p14"/>
          <p:cNvSpPr/>
          <p:nvPr/>
        </p:nvSpPr>
        <p:spPr>
          <a:xfrm>
            <a:off x="961920" y="1881360"/>
            <a:ext cx="2829960" cy="639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01. Strategy &amp; Context</a:t>
            </a:r>
            <a:endParaRPr b="0" lang="en-US" sz="2100" spc="-1" strike="noStrike">
              <a:solidFill>
                <a:srgbClr val="ffffff"/>
              </a:solidFill>
              <a:latin typeface="Arial"/>
            </a:endParaRPr>
          </a:p>
        </p:txBody>
      </p:sp>
      <p:sp>
        <p:nvSpPr>
          <p:cNvPr id="48" name="Google Shape;95;p14"/>
          <p:cNvSpPr/>
          <p:nvPr/>
        </p:nvSpPr>
        <p:spPr>
          <a:xfrm>
            <a:off x="961920" y="4024440"/>
            <a:ext cx="2639880" cy="639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02. Execution &amp; Data</a:t>
            </a:r>
            <a:endParaRPr b="0" lang="en-US" sz="2100" spc="-1" strike="noStrike">
              <a:solidFill>
                <a:srgbClr val="ffffff"/>
              </a:solidFill>
              <a:latin typeface="Arial"/>
            </a:endParaRPr>
          </a:p>
        </p:txBody>
      </p:sp>
      <p:sp>
        <p:nvSpPr>
          <p:cNvPr id="49" name="Google Shape;96;p14"/>
          <p:cNvSpPr/>
          <p:nvPr/>
        </p:nvSpPr>
        <p:spPr>
          <a:xfrm>
            <a:off x="6724800" y="1881360"/>
            <a:ext cx="3089880" cy="639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03. Technology &amp; Models</a:t>
            </a:r>
            <a:endParaRPr b="0" lang="en-US" sz="2100" spc="-1" strike="noStrike">
              <a:solidFill>
                <a:srgbClr val="ffffff"/>
              </a:solidFill>
              <a:latin typeface="Arial"/>
            </a:endParaRPr>
          </a:p>
        </p:txBody>
      </p:sp>
      <p:sp>
        <p:nvSpPr>
          <p:cNvPr id="50" name="Google Shape;97;p14"/>
          <p:cNvSpPr/>
          <p:nvPr/>
        </p:nvSpPr>
        <p:spPr>
          <a:xfrm>
            <a:off x="6724800" y="4024440"/>
            <a:ext cx="3369960" cy="639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04. Governance &amp; Delivery</a:t>
            </a:r>
            <a:endParaRPr b="0" lang="en-US" sz="2100" spc="-1" strike="noStrike">
              <a:solidFill>
                <a:srgbClr val="ffffff"/>
              </a:solidFill>
              <a:latin typeface="Arial"/>
            </a:endParaRPr>
          </a:p>
        </p:txBody>
      </p:sp>
      <p:sp>
        <p:nvSpPr>
          <p:cNvPr id="51" name="Google Shape;98;p14"/>
          <p:cNvSpPr/>
          <p:nvPr/>
        </p:nvSpPr>
        <p:spPr>
          <a:xfrm>
            <a:off x="1285920" y="23670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52" name="Google Shape;99;p14"/>
          <p:cNvSpPr/>
          <p:nvPr/>
        </p:nvSpPr>
        <p:spPr>
          <a:xfrm>
            <a:off x="1390680" y="2367000"/>
            <a:ext cx="309528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Introduction &amp; Problem Statement</a:t>
            </a:r>
            <a:endParaRPr b="0" lang="en-US" sz="1500" spc="-1" strike="noStrike">
              <a:solidFill>
                <a:srgbClr val="ffffff"/>
              </a:solidFill>
              <a:latin typeface="Arial"/>
            </a:endParaRPr>
          </a:p>
        </p:txBody>
      </p:sp>
      <p:sp>
        <p:nvSpPr>
          <p:cNvPr id="53" name="Google Shape;100;p14"/>
          <p:cNvSpPr/>
          <p:nvPr/>
        </p:nvSpPr>
        <p:spPr>
          <a:xfrm>
            <a:off x="1285920" y="28242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54" name="Google Shape;101;p14"/>
          <p:cNvSpPr/>
          <p:nvPr/>
        </p:nvSpPr>
        <p:spPr>
          <a:xfrm>
            <a:off x="1390680" y="2824200"/>
            <a:ext cx="309528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Aim, Objectives &amp; Scope</a:t>
            </a:r>
            <a:endParaRPr b="0" lang="en-US" sz="1500" spc="-1" strike="noStrike">
              <a:solidFill>
                <a:srgbClr val="ffffff"/>
              </a:solidFill>
              <a:latin typeface="Arial"/>
            </a:endParaRPr>
          </a:p>
        </p:txBody>
      </p:sp>
      <p:sp>
        <p:nvSpPr>
          <p:cNvPr id="55" name="Google Shape;102;p14"/>
          <p:cNvSpPr/>
          <p:nvPr/>
        </p:nvSpPr>
        <p:spPr>
          <a:xfrm>
            <a:off x="1285920" y="32814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56" name="Google Shape;103;p14"/>
          <p:cNvSpPr/>
          <p:nvPr/>
        </p:nvSpPr>
        <p:spPr>
          <a:xfrm>
            <a:off x="1390680" y="3281400"/>
            <a:ext cx="309528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Stakeholders &amp; Methodology</a:t>
            </a:r>
            <a:endParaRPr b="0" lang="en-US" sz="1500" spc="-1" strike="noStrike">
              <a:solidFill>
                <a:srgbClr val="ffffff"/>
              </a:solidFill>
              <a:latin typeface="Arial"/>
            </a:endParaRPr>
          </a:p>
        </p:txBody>
      </p:sp>
      <p:sp>
        <p:nvSpPr>
          <p:cNvPr id="57" name="Google Shape;104;p14"/>
          <p:cNvSpPr/>
          <p:nvPr/>
        </p:nvSpPr>
        <p:spPr>
          <a:xfrm>
            <a:off x="1285920" y="45100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58" name="Google Shape;105;p14"/>
          <p:cNvSpPr/>
          <p:nvPr/>
        </p:nvSpPr>
        <p:spPr>
          <a:xfrm>
            <a:off x="1390680" y="4510080"/>
            <a:ext cx="28382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Timeline &amp; Sprint Planning</a:t>
            </a:r>
            <a:endParaRPr b="0" lang="en-US" sz="1500" spc="-1" strike="noStrike">
              <a:solidFill>
                <a:srgbClr val="ffffff"/>
              </a:solidFill>
              <a:latin typeface="Arial"/>
            </a:endParaRPr>
          </a:p>
        </p:txBody>
      </p:sp>
      <p:sp>
        <p:nvSpPr>
          <p:cNvPr id="59" name="Google Shape;106;p14"/>
          <p:cNvSpPr/>
          <p:nvPr/>
        </p:nvSpPr>
        <p:spPr>
          <a:xfrm>
            <a:off x="1285920" y="49672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60" name="Google Shape;107;p14"/>
          <p:cNvSpPr/>
          <p:nvPr/>
        </p:nvSpPr>
        <p:spPr>
          <a:xfrm>
            <a:off x="1390680" y="4967280"/>
            <a:ext cx="28382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Dataset Sourcing &amp; Annotation</a:t>
            </a:r>
            <a:endParaRPr b="0" lang="en-US" sz="1500" spc="-1" strike="noStrike">
              <a:solidFill>
                <a:srgbClr val="ffffff"/>
              </a:solidFill>
              <a:latin typeface="Arial"/>
            </a:endParaRPr>
          </a:p>
        </p:txBody>
      </p:sp>
      <p:sp>
        <p:nvSpPr>
          <p:cNvPr id="61" name="Google Shape;108;p14"/>
          <p:cNvSpPr/>
          <p:nvPr/>
        </p:nvSpPr>
        <p:spPr>
          <a:xfrm>
            <a:off x="1285920" y="54244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62" name="Google Shape;109;p14"/>
          <p:cNvSpPr/>
          <p:nvPr/>
        </p:nvSpPr>
        <p:spPr>
          <a:xfrm>
            <a:off x="1390680" y="5424480"/>
            <a:ext cx="28382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Preprocessing &amp; Augmentation</a:t>
            </a:r>
            <a:endParaRPr b="0" lang="en-US" sz="1500" spc="-1" strike="noStrike">
              <a:solidFill>
                <a:srgbClr val="ffffff"/>
              </a:solidFill>
              <a:latin typeface="Arial"/>
            </a:endParaRPr>
          </a:p>
        </p:txBody>
      </p:sp>
      <p:sp>
        <p:nvSpPr>
          <p:cNvPr id="63" name="Google Shape;110;p14"/>
          <p:cNvSpPr/>
          <p:nvPr/>
        </p:nvSpPr>
        <p:spPr>
          <a:xfrm>
            <a:off x="7048440" y="23670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64" name="Google Shape;111;p14"/>
          <p:cNvSpPr/>
          <p:nvPr/>
        </p:nvSpPr>
        <p:spPr>
          <a:xfrm>
            <a:off x="7153200" y="2367000"/>
            <a:ext cx="265716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System Architecture Pipeline</a:t>
            </a:r>
            <a:endParaRPr b="0" lang="en-US" sz="1500" spc="-1" strike="noStrike">
              <a:solidFill>
                <a:srgbClr val="ffffff"/>
              </a:solidFill>
              <a:latin typeface="Arial"/>
            </a:endParaRPr>
          </a:p>
        </p:txBody>
      </p:sp>
      <p:sp>
        <p:nvSpPr>
          <p:cNvPr id="65" name="Google Shape;112;p14"/>
          <p:cNvSpPr/>
          <p:nvPr/>
        </p:nvSpPr>
        <p:spPr>
          <a:xfrm>
            <a:off x="7048440" y="28242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66" name="Google Shape;113;p14"/>
          <p:cNvSpPr/>
          <p:nvPr/>
        </p:nvSpPr>
        <p:spPr>
          <a:xfrm>
            <a:off x="7153200" y="2824200"/>
            <a:ext cx="265716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YOLOv8 Model Configuration</a:t>
            </a:r>
            <a:endParaRPr b="0" lang="en-US" sz="1500" spc="-1" strike="noStrike">
              <a:solidFill>
                <a:srgbClr val="ffffff"/>
              </a:solidFill>
              <a:latin typeface="Arial"/>
            </a:endParaRPr>
          </a:p>
        </p:txBody>
      </p:sp>
      <p:sp>
        <p:nvSpPr>
          <p:cNvPr id="67" name="Google Shape;114;p14"/>
          <p:cNvSpPr/>
          <p:nvPr/>
        </p:nvSpPr>
        <p:spPr>
          <a:xfrm>
            <a:off x="7048440" y="32814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68" name="Google Shape;115;p14"/>
          <p:cNvSpPr/>
          <p:nvPr/>
        </p:nvSpPr>
        <p:spPr>
          <a:xfrm>
            <a:off x="7153200" y="3281400"/>
            <a:ext cx="265716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Evaluation Metrics &amp; Results</a:t>
            </a:r>
            <a:endParaRPr b="0" lang="en-US" sz="1500" spc="-1" strike="noStrike">
              <a:solidFill>
                <a:srgbClr val="ffffff"/>
              </a:solidFill>
              <a:latin typeface="Arial"/>
            </a:endParaRPr>
          </a:p>
        </p:txBody>
      </p:sp>
      <p:sp>
        <p:nvSpPr>
          <p:cNvPr id="69" name="Google Shape;116;p14"/>
          <p:cNvSpPr/>
          <p:nvPr/>
        </p:nvSpPr>
        <p:spPr>
          <a:xfrm>
            <a:off x="7048440" y="45100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70" name="Google Shape;117;p14"/>
          <p:cNvSpPr/>
          <p:nvPr/>
        </p:nvSpPr>
        <p:spPr>
          <a:xfrm>
            <a:off x="7153200" y="4510080"/>
            <a:ext cx="26096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Interface Demo Walkthrough</a:t>
            </a:r>
            <a:endParaRPr b="0" lang="en-US" sz="1500" spc="-1" strike="noStrike">
              <a:solidFill>
                <a:srgbClr val="ffffff"/>
              </a:solidFill>
              <a:latin typeface="Arial"/>
            </a:endParaRPr>
          </a:p>
        </p:txBody>
      </p:sp>
      <p:sp>
        <p:nvSpPr>
          <p:cNvPr id="71" name="Google Shape;118;p14"/>
          <p:cNvSpPr/>
          <p:nvPr/>
        </p:nvSpPr>
        <p:spPr>
          <a:xfrm>
            <a:off x="7048440" y="49672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72" name="Google Shape;119;p14"/>
          <p:cNvSpPr/>
          <p:nvPr/>
        </p:nvSpPr>
        <p:spPr>
          <a:xfrm>
            <a:off x="7153200" y="4967280"/>
            <a:ext cx="26096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Risk, Cost &amp; Responsible AI</a:t>
            </a:r>
            <a:endParaRPr b="0" lang="en-US" sz="1500" spc="-1" strike="noStrike">
              <a:solidFill>
                <a:srgbClr val="ffffff"/>
              </a:solidFill>
              <a:latin typeface="Arial"/>
            </a:endParaRPr>
          </a:p>
        </p:txBody>
      </p:sp>
      <p:sp>
        <p:nvSpPr>
          <p:cNvPr id="73" name="Google Shape;120;p14"/>
          <p:cNvSpPr/>
          <p:nvPr/>
        </p:nvSpPr>
        <p:spPr>
          <a:xfrm>
            <a:off x="7048440" y="54244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74" name="Google Shape;121;p14"/>
          <p:cNvSpPr/>
          <p:nvPr/>
        </p:nvSpPr>
        <p:spPr>
          <a:xfrm>
            <a:off x="7153200" y="5424480"/>
            <a:ext cx="26096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FAIR Report &amp; Future Goals</a:t>
            </a:r>
            <a:endParaRPr b="0" lang="en-US" sz="1500" spc="-1" strike="noStrike">
              <a:solidFill>
                <a:srgbClr val="ffffff"/>
              </a:solidFill>
              <a:latin typeface="Arial"/>
            </a:endParaRPr>
          </a:p>
        </p:txBody>
      </p:sp>
      <p:sp>
        <p:nvSpPr>
          <p:cNvPr id="75" name="Google Shape;122;p14"/>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Executive Agenda</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76" name="Google Shape;127;p15" descr="image.png"/>
          <p:cNvPicPr/>
          <p:nvPr/>
        </p:nvPicPr>
        <p:blipFill>
          <a:blip r:embed="rId1"/>
          <a:stretch/>
        </p:blipFill>
        <p:spPr>
          <a:xfrm>
            <a:off x="6334200" y="1898280"/>
            <a:ext cx="5285880" cy="3809520"/>
          </a:xfrm>
          <a:prstGeom prst="rect">
            <a:avLst/>
          </a:prstGeom>
          <a:ln w="0">
            <a:noFill/>
          </a:ln>
        </p:spPr>
      </p:pic>
      <p:pic>
        <p:nvPicPr>
          <p:cNvPr id="77" name="Google Shape;128;p15" descr="image.png"/>
          <p:cNvPicPr/>
          <p:nvPr/>
        </p:nvPicPr>
        <p:blipFill>
          <a:blip r:embed="rId2"/>
          <a:stretch/>
        </p:blipFill>
        <p:spPr>
          <a:xfrm>
            <a:off x="6334200" y="1898280"/>
            <a:ext cx="5285880" cy="3809520"/>
          </a:xfrm>
          <a:prstGeom prst="rect">
            <a:avLst/>
          </a:prstGeom>
          <a:ln w="0">
            <a:noFill/>
          </a:ln>
        </p:spPr>
      </p:pic>
      <p:sp>
        <p:nvSpPr>
          <p:cNvPr id="78" name="Google Shape;129;p15"/>
          <p:cNvSpPr/>
          <p:nvPr/>
        </p:nvSpPr>
        <p:spPr>
          <a:xfrm>
            <a:off x="571680" y="1898280"/>
            <a:ext cx="5550480" cy="508320"/>
          </a:xfrm>
          <a:prstGeom prst="rect">
            <a:avLst/>
          </a:prstGeom>
          <a:noFill/>
          <a:ln w="0">
            <a:noFill/>
          </a:ln>
        </p:spPr>
        <p:style>
          <a:lnRef idx="0"/>
          <a:fillRef idx="0"/>
          <a:effectRef idx="0"/>
          <a:fontRef idx="minor"/>
        </p:style>
        <p:txBody>
          <a:bodyPr lIns="0" rIns="0" tIns="0" bIns="0" anchor="t">
            <a:spAutoFit/>
          </a:bodyPr>
          <a:p>
            <a:pPr>
              <a:lnSpc>
                <a:spcPct val="159000"/>
              </a:lnSpc>
              <a:tabLst>
                <a:tab algn="l" pos="0"/>
              </a:tabLst>
            </a:pPr>
            <a:r>
              <a:rPr b="0" lang="en-US" sz="2100" spc="-1" strike="noStrike">
                <a:solidFill>
                  <a:srgbClr val="38bdf8"/>
                </a:solidFill>
                <a:latin typeface="Outfit SemiBold"/>
                <a:ea typeface="Outfit SemiBold"/>
              </a:rPr>
              <a:t>1. Research &amp; Data Lead</a:t>
            </a:r>
            <a:endParaRPr b="0" lang="en-US" sz="2100" spc="-1" strike="noStrike">
              <a:solidFill>
                <a:srgbClr val="ffffff"/>
              </a:solidFill>
              <a:latin typeface="Arial"/>
            </a:endParaRPr>
          </a:p>
        </p:txBody>
      </p:sp>
      <p:sp>
        <p:nvSpPr>
          <p:cNvPr id="79" name="Google Shape;130;p15"/>
          <p:cNvSpPr/>
          <p:nvPr/>
        </p:nvSpPr>
        <p:spPr>
          <a:xfrm>
            <a:off x="571680" y="237276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Literature review on infection prevention, UV video recording, and volunteer coordination.</a:t>
            </a:r>
            <a:endParaRPr b="0" lang="en-US" sz="1500" spc="-1" strike="noStrike">
              <a:solidFill>
                <a:srgbClr val="ffffff"/>
              </a:solidFill>
              <a:latin typeface="Arial"/>
            </a:endParaRPr>
          </a:p>
        </p:txBody>
      </p:sp>
      <p:sp>
        <p:nvSpPr>
          <p:cNvPr id="80" name="Google Shape;131;p15"/>
          <p:cNvSpPr/>
          <p:nvPr/>
        </p:nvSpPr>
        <p:spPr>
          <a:xfrm>
            <a:off x="571680" y="3220200"/>
            <a:ext cx="5550480" cy="508320"/>
          </a:xfrm>
          <a:prstGeom prst="rect">
            <a:avLst/>
          </a:prstGeom>
          <a:noFill/>
          <a:ln w="0">
            <a:noFill/>
          </a:ln>
        </p:spPr>
        <p:style>
          <a:lnRef idx="0"/>
          <a:fillRef idx="0"/>
          <a:effectRef idx="0"/>
          <a:fontRef idx="minor"/>
        </p:style>
        <p:txBody>
          <a:bodyPr lIns="0" rIns="0" tIns="0" bIns="0" anchor="t">
            <a:spAutoFit/>
          </a:bodyPr>
          <a:p>
            <a:pPr>
              <a:lnSpc>
                <a:spcPct val="159000"/>
              </a:lnSpc>
              <a:tabLst>
                <a:tab algn="l" pos="0"/>
              </a:tabLst>
            </a:pPr>
            <a:r>
              <a:rPr b="0" lang="en-US" sz="2100" spc="-1" strike="noStrike">
                <a:solidFill>
                  <a:srgbClr val="38bdf8"/>
                </a:solidFill>
                <a:latin typeface="Outfit SemiBold"/>
                <a:ea typeface="Outfit SemiBold"/>
              </a:rPr>
              <a:t>2. Annotation &amp; AI Developer</a:t>
            </a:r>
            <a:endParaRPr b="0" lang="en-US" sz="2100" spc="-1" strike="noStrike">
              <a:solidFill>
                <a:srgbClr val="ffffff"/>
              </a:solidFill>
              <a:latin typeface="Arial"/>
            </a:endParaRPr>
          </a:p>
        </p:txBody>
      </p:sp>
      <p:sp>
        <p:nvSpPr>
          <p:cNvPr id="81" name="Google Shape;132;p15"/>
          <p:cNvSpPr/>
          <p:nvPr/>
        </p:nvSpPr>
        <p:spPr>
          <a:xfrm>
            <a:off x="571680" y="369468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Dataset annotation strategy, Roboflow configuration, auto-labelling, and YOLOv8 training.</a:t>
            </a:r>
            <a:endParaRPr b="0" lang="en-US" sz="1500" spc="-1" strike="noStrike">
              <a:solidFill>
                <a:srgbClr val="ffffff"/>
              </a:solidFill>
              <a:latin typeface="Arial"/>
            </a:endParaRPr>
          </a:p>
        </p:txBody>
      </p:sp>
      <p:sp>
        <p:nvSpPr>
          <p:cNvPr id="82" name="Google Shape;133;p15"/>
          <p:cNvSpPr/>
          <p:nvPr/>
        </p:nvSpPr>
        <p:spPr>
          <a:xfrm>
            <a:off x="571680" y="4542480"/>
            <a:ext cx="5550480" cy="508320"/>
          </a:xfrm>
          <a:prstGeom prst="rect">
            <a:avLst/>
          </a:prstGeom>
          <a:noFill/>
          <a:ln w="0">
            <a:noFill/>
          </a:ln>
        </p:spPr>
        <p:style>
          <a:lnRef idx="0"/>
          <a:fillRef idx="0"/>
          <a:effectRef idx="0"/>
          <a:fontRef idx="minor"/>
        </p:style>
        <p:txBody>
          <a:bodyPr lIns="0" rIns="0" tIns="0" bIns="0" anchor="t">
            <a:spAutoFit/>
          </a:bodyPr>
          <a:p>
            <a:pPr>
              <a:lnSpc>
                <a:spcPct val="159000"/>
              </a:lnSpc>
              <a:tabLst>
                <a:tab algn="l" pos="0"/>
              </a:tabLst>
            </a:pPr>
            <a:r>
              <a:rPr b="0" lang="en-US" sz="2100" spc="-1" strike="noStrike">
                <a:solidFill>
                  <a:srgbClr val="38bdf8"/>
                </a:solidFill>
                <a:latin typeface="Outfit SemiBold"/>
                <a:ea typeface="Outfit SemiBold"/>
              </a:rPr>
              <a:t>3. Application &amp; Testing Lead</a:t>
            </a:r>
            <a:endParaRPr b="0" lang="en-US" sz="2100" spc="-1" strike="noStrike">
              <a:solidFill>
                <a:srgbClr val="ffffff"/>
              </a:solidFill>
              <a:latin typeface="Arial"/>
            </a:endParaRPr>
          </a:p>
        </p:txBody>
      </p:sp>
      <p:sp>
        <p:nvSpPr>
          <p:cNvPr id="83" name="Google Shape;134;p15"/>
          <p:cNvSpPr/>
          <p:nvPr/>
        </p:nvSpPr>
        <p:spPr>
          <a:xfrm>
            <a:off x="571680" y="501660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Streamlit development, model integration, functional validation, and UAT testing.</a:t>
            </a:r>
            <a:endParaRPr b="0" lang="en-US" sz="1500" spc="-1" strike="noStrike">
              <a:solidFill>
                <a:srgbClr val="ffffff"/>
              </a:solidFill>
              <a:latin typeface="Arial"/>
            </a:endParaRPr>
          </a:p>
        </p:txBody>
      </p:sp>
      <p:sp>
        <p:nvSpPr>
          <p:cNvPr id="84" name="Google Shape;135;p15"/>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Our Team &amp; Roles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5" name="Google Shape;140;p16"/>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86" name="Google Shape;141;p16"/>
          <p:cNvSpPr/>
          <p:nvPr/>
        </p:nvSpPr>
        <p:spPr>
          <a:xfrm>
            <a:off x="3775680" y="2877480"/>
            <a:ext cx="464040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01. Introduction</a:t>
            </a:r>
            <a:endParaRPr b="0" lang="en-US" sz="4800" spc="-1" strike="noStrike">
              <a:solidFill>
                <a:srgbClr val="ffffff"/>
              </a:solidFill>
              <a:latin typeface="Arial"/>
            </a:endParaRPr>
          </a:p>
        </p:txBody>
      </p:sp>
      <p:sp>
        <p:nvSpPr>
          <p:cNvPr id="87" name="Google Shape;142;p16"/>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Understanding the critical gap in current infection-prevention methodologies and formulating a structured, AI-driven solution.</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88" name="Google Shape;147;p17" descr="image.png"/>
          <p:cNvPicPr/>
          <p:nvPr/>
        </p:nvPicPr>
        <p:blipFill>
          <a:blip r:embed="rId1"/>
          <a:stretch/>
        </p:blipFill>
        <p:spPr>
          <a:xfrm>
            <a:off x="571680" y="2028960"/>
            <a:ext cx="5285880" cy="3704760"/>
          </a:xfrm>
          <a:prstGeom prst="rect">
            <a:avLst/>
          </a:prstGeom>
          <a:ln w="0">
            <a:noFill/>
          </a:ln>
        </p:spPr>
      </p:pic>
      <p:pic>
        <p:nvPicPr>
          <p:cNvPr id="89" name="Google Shape;148;p17" descr="image.png"/>
          <p:cNvPicPr/>
          <p:nvPr/>
        </p:nvPicPr>
        <p:blipFill>
          <a:blip r:embed="rId2"/>
          <a:stretch/>
        </p:blipFill>
        <p:spPr>
          <a:xfrm>
            <a:off x="6334200" y="2028960"/>
            <a:ext cx="5285880" cy="3704760"/>
          </a:xfrm>
          <a:prstGeom prst="rect">
            <a:avLst/>
          </a:prstGeom>
          <a:ln w="0">
            <a:noFill/>
          </a:ln>
        </p:spPr>
      </p:pic>
      <p:sp>
        <p:nvSpPr>
          <p:cNvPr id="90" name="Google Shape;149;p17"/>
          <p:cNvSpPr/>
          <p:nvPr/>
        </p:nvSpPr>
        <p:spPr>
          <a:xfrm>
            <a:off x="849240" y="2419200"/>
            <a:ext cx="4730400" cy="3204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The Challenge</a:t>
            </a:r>
            <a:endParaRPr b="0" lang="en-US" sz="2100" spc="-1" strike="noStrike">
              <a:solidFill>
                <a:srgbClr val="ffffff"/>
              </a:solidFill>
              <a:latin typeface="Arial"/>
            </a:endParaRPr>
          </a:p>
        </p:txBody>
      </p:sp>
      <p:sp>
        <p:nvSpPr>
          <p:cNvPr id="91" name="Google Shape;150;p17"/>
          <p:cNvSpPr/>
          <p:nvPr/>
        </p:nvSpPr>
        <p:spPr>
          <a:xfrm>
            <a:off x="961920" y="2905200"/>
            <a:ext cx="4505040" cy="73188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Hand hygiene prevents infection spread, yet assessment relies heavily on manual observation.</a:t>
            </a:r>
            <a:endParaRPr b="0" lang="en-US" sz="1500" spc="-1" strike="noStrike">
              <a:solidFill>
                <a:srgbClr val="ffffff"/>
              </a:solidFill>
              <a:latin typeface="Arial"/>
            </a:endParaRPr>
          </a:p>
        </p:txBody>
      </p:sp>
      <p:sp>
        <p:nvSpPr>
          <p:cNvPr id="92" name="Google Shape;151;p17"/>
          <p:cNvSpPr/>
          <p:nvPr/>
        </p:nvSpPr>
        <p:spPr>
          <a:xfrm>
            <a:off x="961920" y="3971880"/>
            <a:ext cx="4505040" cy="146268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These manual checks are inherently </a:t>
            </a:r>
            <a:r>
              <a:rPr b="1" lang="en-US" sz="1500" spc="-1" strike="noStrike">
                <a:solidFill>
                  <a:srgbClr val="cbd5e1"/>
                </a:solidFill>
                <a:latin typeface="Inter"/>
                <a:ea typeface="Inter"/>
              </a:rPr>
              <a:t>subjective, inconsistent, and time-consuming</a:t>
            </a:r>
            <a:r>
              <a:rPr b="0" lang="en-US" sz="1500" spc="-1" strike="noStrike">
                <a:solidFill>
                  <a:srgbClr val="cbd5e1"/>
                </a:solidFill>
                <a:latin typeface="Inter"/>
                <a:ea typeface="Inter"/>
              </a:rPr>
              <a:t>, which weakens infection-prevention outcomes across both healthcare and educational settings.</a:t>
            </a:r>
            <a:endParaRPr b="0" lang="en-US" sz="1500" spc="-1" strike="noStrike">
              <a:solidFill>
                <a:srgbClr val="ffffff"/>
              </a:solidFill>
              <a:latin typeface="Arial"/>
            </a:endParaRPr>
          </a:p>
        </p:txBody>
      </p:sp>
      <p:sp>
        <p:nvSpPr>
          <p:cNvPr id="93" name="Google Shape;152;p17"/>
          <p:cNvSpPr/>
          <p:nvPr/>
        </p:nvSpPr>
        <p:spPr>
          <a:xfrm>
            <a:off x="6612120" y="2419200"/>
            <a:ext cx="4730400" cy="3204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The Solution</a:t>
            </a:r>
            <a:endParaRPr b="0" lang="en-US" sz="2100" spc="-1" strike="noStrike">
              <a:solidFill>
                <a:srgbClr val="ffffff"/>
              </a:solidFill>
              <a:latin typeface="Arial"/>
            </a:endParaRPr>
          </a:p>
        </p:txBody>
      </p:sp>
      <p:sp>
        <p:nvSpPr>
          <p:cNvPr id="94" name="Google Shape;153;p17"/>
          <p:cNvSpPr/>
          <p:nvPr/>
        </p:nvSpPr>
        <p:spPr>
          <a:xfrm>
            <a:off x="6724800" y="2905200"/>
            <a:ext cx="450504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An automated, objective methodology capable of classifying hand cleanliness under UV light with high precision.</a:t>
            </a:r>
            <a:endParaRPr b="0" lang="en-US" sz="1500" spc="-1" strike="noStrike">
              <a:solidFill>
                <a:srgbClr val="ffffff"/>
              </a:solidFill>
              <a:latin typeface="Arial"/>
            </a:endParaRPr>
          </a:p>
        </p:txBody>
      </p:sp>
      <p:sp>
        <p:nvSpPr>
          <p:cNvPr id="95" name="Google Shape;154;p17"/>
          <p:cNvSpPr/>
          <p:nvPr/>
        </p:nvSpPr>
        <p:spPr>
          <a:xfrm>
            <a:off x="6724800" y="3971880"/>
            <a:ext cx="450504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By providing </a:t>
            </a:r>
            <a:r>
              <a:rPr b="1" lang="en-US" sz="1500" spc="-1" strike="noStrike">
                <a:solidFill>
                  <a:srgbClr val="cbd5e1"/>
                </a:solidFill>
                <a:latin typeface="Inter"/>
                <a:ea typeface="Inter"/>
              </a:rPr>
              <a:t>immediate visual feedback</a:t>
            </a:r>
            <a:r>
              <a:rPr b="0" lang="en-US" sz="1500" spc="-1" strike="noStrike">
                <a:solidFill>
                  <a:srgbClr val="cbd5e1"/>
                </a:solidFill>
                <a:latin typeface="Inter"/>
                <a:ea typeface="Inter"/>
              </a:rPr>
              <a:t>, the system can correct human error and reinforce proper hygiene protocols instantaneously.</a:t>
            </a:r>
            <a:endParaRPr b="0" lang="en-US" sz="1500" spc="-1" strike="noStrike">
              <a:solidFill>
                <a:srgbClr val="ffffff"/>
              </a:solidFill>
              <a:latin typeface="Arial"/>
            </a:endParaRPr>
          </a:p>
        </p:txBody>
      </p:sp>
      <p:sp>
        <p:nvSpPr>
          <p:cNvPr id="96" name="Google Shape;155;p17"/>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The Core Challenge</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97" name="Google Shape;160;p18"/>
          <p:cNvSpPr/>
          <p:nvPr/>
        </p:nvSpPr>
        <p:spPr>
          <a:xfrm>
            <a:off x="571680" y="571680"/>
            <a:ext cx="555048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Why It Matters</a:t>
            </a:r>
            <a:endParaRPr b="0" lang="en-US" sz="3300" spc="-1" strike="noStrike">
              <a:solidFill>
                <a:srgbClr val="ffffff"/>
              </a:solidFill>
              <a:latin typeface="Arial"/>
            </a:endParaRPr>
          </a:p>
        </p:txBody>
      </p:sp>
      <p:pic>
        <p:nvPicPr>
          <p:cNvPr id="98" name="Google Shape;161;p18" descr="image.png"/>
          <p:cNvPicPr/>
          <p:nvPr/>
        </p:nvPicPr>
        <p:blipFill>
          <a:blip r:embed="rId1"/>
          <a:stretch/>
        </p:blipFill>
        <p:spPr>
          <a:xfrm>
            <a:off x="6334200" y="0"/>
            <a:ext cx="5857560" cy="6857640"/>
          </a:xfrm>
          <a:prstGeom prst="rect">
            <a:avLst/>
          </a:prstGeom>
          <a:ln w="0">
            <a:noFill/>
          </a:ln>
        </p:spPr>
      </p:pic>
      <p:sp>
        <p:nvSpPr>
          <p:cNvPr id="99" name="Google Shape;162;p18"/>
          <p:cNvSpPr/>
          <p:nvPr/>
        </p:nvSpPr>
        <p:spPr>
          <a:xfrm>
            <a:off x="571680" y="1757520"/>
            <a:ext cx="5550480" cy="639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Healthcare-Associated Infections (HAIs)</a:t>
            </a:r>
            <a:endParaRPr b="0" lang="en-US" sz="2100" spc="-1" strike="noStrike">
              <a:solidFill>
                <a:srgbClr val="ffffff"/>
              </a:solidFill>
              <a:latin typeface="Arial"/>
            </a:endParaRPr>
          </a:p>
        </p:txBody>
      </p:sp>
      <p:sp>
        <p:nvSpPr>
          <p:cNvPr id="100" name="Google Shape;163;p18"/>
          <p:cNvSpPr/>
          <p:nvPr/>
        </p:nvSpPr>
        <p:spPr>
          <a:xfrm>
            <a:off x="571680" y="218592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HAIs remain a critical risk to patients and clinical staff globally, with poor hand hygiene acting as the primary contributor to disease transmission.</a:t>
            </a:r>
            <a:endParaRPr b="0" lang="en-US" sz="1500" spc="-1" strike="noStrike">
              <a:solidFill>
                <a:srgbClr val="ffffff"/>
              </a:solidFill>
              <a:latin typeface="Arial"/>
            </a:endParaRPr>
          </a:p>
        </p:txBody>
      </p:sp>
      <p:sp>
        <p:nvSpPr>
          <p:cNvPr id="101" name="Google Shape;164;p18"/>
          <p:cNvSpPr/>
          <p:nvPr/>
        </p:nvSpPr>
        <p:spPr>
          <a:xfrm>
            <a:off x="571680" y="3443400"/>
            <a:ext cx="5550480" cy="3204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Beyond Healthcare</a:t>
            </a:r>
            <a:endParaRPr b="0" lang="en-US" sz="2100" spc="-1" strike="noStrike">
              <a:solidFill>
                <a:srgbClr val="ffffff"/>
              </a:solidFill>
              <a:latin typeface="Arial"/>
            </a:endParaRPr>
          </a:p>
        </p:txBody>
      </p:sp>
      <p:sp>
        <p:nvSpPr>
          <p:cNvPr id="102" name="Google Shape;165;p18"/>
          <p:cNvSpPr/>
          <p:nvPr/>
        </p:nvSpPr>
        <p:spPr>
          <a:xfrm>
            <a:off x="571680" y="387180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Similar hygiene assessment gaps persist in schools, laboratories, food-preparation environments, and public facilities.</a:t>
            </a:r>
            <a:endParaRPr b="0" lang="en-US" sz="1500" spc="-1" strike="noStrike">
              <a:solidFill>
                <a:srgbClr val="ffffff"/>
              </a:solidFill>
              <a:latin typeface="Arial"/>
            </a:endParaRPr>
          </a:p>
        </p:txBody>
      </p:sp>
      <p:sp>
        <p:nvSpPr>
          <p:cNvPr id="103" name="Google Shape;166;p18"/>
          <p:cNvSpPr/>
          <p:nvPr/>
        </p:nvSpPr>
        <p:spPr>
          <a:xfrm>
            <a:off x="571680" y="493884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An AI-powered UV scanner offers a scalable solution to support widespread training, awareness, and infection-prevention initiatives.</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4" name="Google Shape;171;p19"/>
          <p:cNvSpPr/>
          <p:nvPr/>
        </p:nvSpPr>
        <p:spPr>
          <a:xfrm>
            <a:off x="1876320" y="2109960"/>
            <a:ext cx="8438760" cy="3518640"/>
          </a:xfrm>
          <a:prstGeom prst="rect">
            <a:avLst/>
          </a:prstGeom>
          <a:noFill/>
          <a:ln w="0">
            <a:noFill/>
          </a:ln>
        </p:spPr>
        <p:style>
          <a:lnRef idx="0"/>
          <a:fillRef idx="0"/>
          <a:effectRef idx="0"/>
          <a:fontRef idx="minor"/>
        </p:style>
        <p:txBody>
          <a:bodyPr lIns="0" rIns="0" tIns="0" bIns="0" anchor="t">
            <a:spAutoFit/>
          </a:bodyPr>
          <a:p>
            <a:pPr algn="ctr">
              <a:lnSpc>
                <a:spcPct val="140000"/>
              </a:lnSpc>
              <a:tabLst>
                <a:tab algn="l" pos="0"/>
              </a:tabLst>
            </a:pPr>
            <a:r>
              <a:rPr b="0" lang="en-US" sz="3300" spc="-1" strike="noStrike">
                <a:solidFill>
                  <a:srgbClr val="f8fafc"/>
                </a:solidFill>
                <a:latin typeface="Outfit Medium"/>
                <a:ea typeface="Outfit Medium"/>
              </a:rPr>
              <a:t>Existing hand hygiene assessment procedures are subjective and depend heavily on human observation, failing to provide consistent, objective feedback regarding contamination levels.</a:t>
            </a:r>
            <a:endParaRPr b="0" lang="en-US" sz="3300" spc="-1" strike="noStrike">
              <a:solidFill>
                <a:srgbClr val="ffffff"/>
              </a:solidFill>
              <a:latin typeface="Arial"/>
            </a:endParaRPr>
          </a:p>
        </p:txBody>
      </p:sp>
      <p:sp>
        <p:nvSpPr>
          <p:cNvPr id="105" name="Google Shape;172;p19"/>
          <p:cNvSpPr/>
          <p:nvPr/>
        </p:nvSpPr>
        <p:spPr>
          <a:xfrm>
            <a:off x="4462560" y="5624280"/>
            <a:ext cx="3266640" cy="5482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1800" spc="-1" strike="noStrike">
                <a:solidFill>
                  <a:srgbClr val="34d399"/>
                </a:solidFill>
                <a:latin typeface="Inter SemiBold"/>
                <a:ea typeface="Inter SemiBold"/>
              </a:rPr>
              <a:t>— </a:t>
            </a:r>
            <a:r>
              <a:rPr b="0" lang="en-US" sz="1800" spc="-1" strike="noStrike">
                <a:solidFill>
                  <a:srgbClr val="34d399"/>
                </a:solidFill>
                <a:latin typeface="Inter SemiBold"/>
                <a:ea typeface="Inter SemiBold"/>
              </a:rPr>
              <a:t>Project Initiation Document</a:t>
            </a:r>
            <a:endParaRPr b="0" lang="en-US" sz="1800" spc="-1" strike="noStrike">
              <a:solidFill>
                <a:srgbClr val="ffffff"/>
              </a:solidFill>
              <a:latin typeface="Arial"/>
            </a:endParaRPr>
          </a:p>
        </p:txBody>
      </p:sp>
      <p:sp>
        <p:nvSpPr>
          <p:cNvPr id="106" name="Google Shape;173;p19"/>
          <p:cNvSpPr/>
          <p:nvPr/>
        </p:nvSpPr>
        <p:spPr>
          <a:xfrm>
            <a:off x="1209600" y="2490840"/>
            <a:ext cx="456840" cy="1371960"/>
          </a:xfrm>
          <a:prstGeom prst="rect">
            <a:avLst/>
          </a:prstGeom>
          <a:noFill/>
          <a:ln w="0">
            <a:noFill/>
          </a:ln>
        </p:spPr>
        <p:style>
          <a:lnRef idx="0"/>
          <a:fillRef idx="0"/>
          <a:effectRef idx="0"/>
          <a:fontRef idx="minor"/>
        </p:style>
        <p:txBody>
          <a:bodyPr lIns="0" rIns="0" tIns="0" bIns="0" anchor="t">
            <a:spAutoFit/>
          </a:bodyPr>
          <a:p>
            <a:pPr>
              <a:lnSpc>
                <a:spcPct val="0"/>
              </a:lnSpc>
              <a:tabLst>
                <a:tab algn="l" pos="0"/>
              </a:tabLst>
            </a:pPr>
            <a:r>
              <a:rPr b="0" lang="en-US" sz="9000" spc="-1" strike="noStrike">
                <a:solidFill>
                  <a:srgbClr val="38bdf8"/>
                </a:solidFill>
                <a:latin typeface="Outfit Medium"/>
                <a:ea typeface="Outfit Medium"/>
              </a:rPr>
              <a:t>"</a:t>
            </a:r>
            <a:endParaRPr b="0" lang="en-US" sz="9000" spc="-1" strike="noStrike">
              <a:solidFill>
                <a:srgbClr val="ffffff"/>
              </a:solidFill>
              <a:latin typeface="Arial"/>
            </a:endParaRPr>
          </a:p>
        </p:txBody>
      </p:sp>
      <p:sp>
        <p:nvSpPr>
          <p:cNvPr id="107" name="Google Shape;174;p19"/>
          <p:cNvSpPr/>
          <p:nvPr/>
        </p:nvSpPr>
        <p:spPr>
          <a:xfrm>
            <a:off x="10524960" y="5043240"/>
            <a:ext cx="456840" cy="1371960"/>
          </a:xfrm>
          <a:prstGeom prst="rect">
            <a:avLst/>
          </a:prstGeom>
          <a:noFill/>
          <a:ln w="0">
            <a:noFill/>
          </a:ln>
        </p:spPr>
        <p:style>
          <a:lnRef idx="0"/>
          <a:fillRef idx="0"/>
          <a:effectRef idx="0"/>
          <a:fontRef idx="minor"/>
        </p:style>
        <p:txBody>
          <a:bodyPr lIns="0" rIns="0" tIns="0" bIns="0" anchor="t">
            <a:spAutoFit/>
          </a:bodyPr>
          <a:p>
            <a:pPr>
              <a:lnSpc>
                <a:spcPct val="0"/>
              </a:lnSpc>
              <a:tabLst>
                <a:tab algn="l" pos="0"/>
              </a:tabLst>
            </a:pPr>
            <a:r>
              <a:rPr b="0" lang="en-US" sz="9000" spc="-1" strike="noStrike">
                <a:solidFill>
                  <a:srgbClr val="38bdf8"/>
                </a:solidFill>
                <a:latin typeface="Outfit Medium"/>
                <a:ea typeface="Outfit Medium"/>
              </a:rPr>
              <a:t>"</a:t>
            </a:r>
            <a:endParaRPr b="0" lang="en-US" sz="9000" spc="-1" strike="noStrike">
              <a:solidFill>
                <a:srgbClr val="ffffff"/>
              </a:solidFill>
              <a:latin typeface="Arial"/>
            </a:endParaRPr>
          </a:p>
        </p:txBody>
      </p:sp>
      <p:sp>
        <p:nvSpPr>
          <p:cNvPr id="108" name="Google Shape;175;p19"/>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Problem Statement</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9" name="Google Shape;180;p20"/>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110" name="Google Shape;181;p20"/>
          <p:cNvSpPr/>
          <p:nvPr/>
        </p:nvSpPr>
        <p:spPr>
          <a:xfrm>
            <a:off x="2955600" y="2877480"/>
            <a:ext cx="628056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02. Direction &amp; Scope</a:t>
            </a:r>
            <a:endParaRPr b="0" lang="en-US" sz="4800" spc="-1" strike="noStrike">
              <a:solidFill>
                <a:srgbClr val="ffffff"/>
              </a:solidFill>
              <a:latin typeface="Arial"/>
            </a:endParaRPr>
          </a:p>
        </p:txBody>
      </p:sp>
      <p:sp>
        <p:nvSpPr>
          <p:cNvPr id="111" name="Google Shape;182;p20"/>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Defining clear objectives, maintaining strict project boundaries, and identifying key stakeholders involved in the ecosystem.</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112" name="Google Shape;187;p21" descr="image.png"/>
          <p:cNvPicPr/>
          <p:nvPr/>
        </p:nvPicPr>
        <p:blipFill>
          <a:blip r:embed="rId1"/>
          <a:stretch/>
        </p:blipFill>
        <p:spPr>
          <a:xfrm>
            <a:off x="571680" y="2043000"/>
            <a:ext cx="3428640" cy="3676320"/>
          </a:xfrm>
          <a:prstGeom prst="rect">
            <a:avLst/>
          </a:prstGeom>
          <a:ln w="0">
            <a:noFill/>
          </a:ln>
        </p:spPr>
      </p:pic>
      <p:pic>
        <p:nvPicPr>
          <p:cNvPr id="113" name="Google Shape;188;p21" descr="image.png"/>
          <p:cNvPicPr/>
          <p:nvPr/>
        </p:nvPicPr>
        <p:blipFill>
          <a:blip r:embed="rId2"/>
          <a:stretch/>
        </p:blipFill>
        <p:spPr>
          <a:xfrm>
            <a:off x="4381560" y="2043000"/>
            <a:ext cx="3428640" cy="3676320"/>
          </a:xfrm>
          <a:prstGeom prst="rect">
            <a:avLst/>
          </a:prstGeom>
          <a:ln w="0">
            <a:noFill/>
          </a:ln>
        </p:spPr>
      </p:pic>
      <p:pic>
        <p:nvPicPr>
          <p:cNvPr id="114" name="Google Shape;189;p21" descr="image.png"/>
          <p:cNvPicPr/>
          <p:nvPr/>
        </p:nvPicPr>
        <p:blipFill>
          <a:blip r:embed="rId3"/>
          <a:stretch/>
        </p:blipFill>
        <p:spPr>
          <a:xfrm>
            <a:off x="8191440" y="2043000"/>
            <a:ext cx="3428640" cy="3676320"/>
          </a:xfrm>
          <a:prstGeom prst="rect">
            <a:avLst/>
          </a:prstGeom>
          <a:ln w="0">
            <a:noFill/>
          </a:ln>
        </p:spPr>
      </p:pic>
      <p:sp>
        <p:nvSpPr>
          <p:cNvPr id="115" name="Google Shape;190;p21"/>
          <p:cNvSpPr/>
          <p:nvPr/>
        </p:nvSpPr>
        <p:spPr>
          <a:xfrm>
            <a:off x="1505880" y="3214800"/>
            <a:ext cx="155988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Primary Aim</a:t>
            </a:r>
            <a:endParaRPr b="0" lang="en-US" sz="2100" spc="-1" strike="noStrike">
              <a:solidFill>
                <a:srgbClr val="ffffff"/>
              </a:solidFill>
              <a:latin typeface="Arial"/>
            </a:endParaRPr>
          </a:p>
        </p:txBody>
      </p:sp>
      <p:sp>
        <p:nvSpPr>
          <p:cNvPr id="116" name="Google Shape;191;p21"/>
          <p:cNvSpPr/>
          <p:nvPr/>
        </p:nvSpPr>
        <p:spPr>
          <a:xfrm>
            <a:off x="866880" y="3700440"/>
            <a:ext cx="2838240" cy="18284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Develop an AI-powered system that detects and classifies hand cleanliness from UV images, delivering real-time visual feedback.</a:t>
            </a:r>
            <a:endParaRPr b="0" lang="en-US" sz="1500" spc="-1" strike="noStrike">
              <a:solidFill>
                <a:srgbClr val="ffffff"/>
              </a:solidFill>
              <a:latin typeface="Arial"/>
            </a:endParaRPr>
          </a:p>
        </p:txBody>
      </p:sp>
      <p:sp>
        <p:nvSpPr>
          <p:cNvPr id="117" name="Google Shape;192;p21"/>
          <p:cNvSpPr/>
          <p:nvPr/>
        </p:nvSpPr>
        <p:spPr>
          <a:xfrm>
            <a:off x="5140800" y="3214800"/>
            <a:ext cx="190980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Data Objective</a:t>
            </a:r>
            <a:endParaRPr b="0" lang="en-US" sz="2100" spc="-1" strike="noStrike">
              <a:solidFill>
                <a:srgbClr val="ffffff"/>
              </a:solidFill>
              <a:latin typeface="Arial"/>
            </a:endParaRPr>
          </a:p>
        </p:txBody>
      </p:sp>
      <p:sp>
        <p:nvSpPr>
          <p:cNvPr id="118" name="Google Shape;193;p21"/>
          <p:cNvSpPr/>
          <p:nvPr/>
        </p:nvSpPr>
        <p:spPr>
          <a:xfrm>
            <a:off x="4676760" y="3700440"/>
            <a:ext cx="2838240" cy="146340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Collect, prepare, and rigorously annotate a custom UV hand hygiene image dataset using precise object detection labels.</a:t>
            </a:r>
            <a:endParaRPr b="0" lang="en-US" sz="1500" spc="-1" strike="noStrike">
              <a:solidFill>
                <a:srgbClr val="ffffff"/>
              </a:solidFill>
              <a:latin typeface="Arial"/>
            </a:endParaRPr>
          </a:p>
        </p:txBody>
      </p:sp>
      <p:sp>
        <p:nvSpPr>
          <p:cNvPr id="119" name="Google Shape;194;p21"/>
          <p:cNvSpPr/>
          <p:nvPr/>
        </p:nvSpPr>
        <p:spPr>
          <a:xfrm>
            <a:off x="8880840" y="3214800"/>
            <a:ext cx="204984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Model Objective</a:t>
            </a:r>
            <a:endParaRPr b="0" lang="en-US" sz="2100" spc="-1" strike="noStrike">
              <a:solidFill>
                <a:srgbClr val="ffffff"/>
              </a:solidFill>
              <a:latin typeface="Arial"/>
            </a:endParaRPr>
          </a:p>
        </p:txBody>
      </p:sp>
      <p:sp>
        <p:nvSpPr>
          <p:cNvPr id="120" name="Google Shape;195;p21"/>
          <p:cNvSpPr/>
          <p:nvPr/>
        </p:nvSpPr>
        <p:spPr>
          <a:xfrm>
            <a:off x="8486640" y="3700440"/>
            <a:ext cx="2838240" cy="146340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Train a YOLOv8 model to classify hand regions (Clean, Partial, Dirty) and deploy it within an interactive Streamlit UI.</a:t>
            </a:r>
            <a:endParaRPr b="0" lang="en-US" sz="1500" spc="-1" strike="noStrike">
              <a:solidFill>
                <a:srgbClr val="ffffff"/>
              </a:solidFill>
              <a:latin typeface="Arial"/>
            </a:endParaRPr>
          </a:p>
        </p:txBody>
      </p:sp>
      <p:pic>
        <p:nvPicPr>
          <p:cNvPr id="121" name="Google Shape;196;p21" descr="image.png"/>
          <p:cNvPicPr/>
          <p:nvPr/>
        </p:nvPicPr>
        <p:blipFill>
          <a:blip r:embed="rId4"/>
          <a:stretch/>
        </p:blipFill>
        <p:spPr>
          <a:xfrm>
            <a:off x="2038320" y="2433600"/>
            <a:ext cx="495000" cy="495000"/>
          </a:xfrm>
          <a:prstGeom prst="rect">
            <a:avLst/>
          </a:prstGeom>
          <a:ln w="0">
            <a:noFill/>
          </a:ln>
        </p:spPr>
      </p:pic>
      <p:pic>
        <p:nvPicPr>
          <p:cNvPr id="122" name="Google Shape;197;p21" descr="image.png"/>
          <p:cNvPicPr/>
          <p:nvPr/>
        </p:nvPicPr>
        <p:blipFill>
          <a:blip r:embed="rId5"/>
          <a:stretch/>
        </p:blipFill>
        <p:spPr>
          <a:xfrm>
            <a:off x="5815080" y="2433600"/>
            <a:ext cx="561600" cy="495000"/>
          </a:xfrm>
          <a:prstGeom prst="rect">
            <a:avLst/>
          </a:prstGeom>
          <a:ln w="0">
            <a:noFill/>
          </a:ln>
        </p:spPr>
      </p:pic>
      <p:pic>
        <p:nvPicPr>
          <p:cNvPr id="123" name="Google Shape;198;p21" descr="image.png"/>
          <p:cNvPicPr/>
          <p:nvPr/>
        </p:nvPicPr>
        <p:blipFill>
          <a:blip r:embed="rId6"/>
          <a:stretch/>
        </p:blipFill>
        <p:spPr>
          <a:xfrm>
            <a:off x="9658440" y="2433600"/>
            <a:ext cx="495000" cy="495000"/>
          </a:xfrm>
          <a:prstGeom prst="rect">
            <a:avLst/>
          </a:prstGeom>
          <a:ln w="0">
            <a:noFill/>
          </a:ln>
        </p:spPr>
      </p:pic>
      <p:sp>
        <p:nvSpPr>
          <p:cNvPr id="124" name="Google Shape;199;p21"/>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Project Aims &amp; Objectives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5" name="Google Shape;204;p22"/>
          <p:cNvSpPr/>
          <p:nvPr/>
        </p:nvSpPr>
        <p:spPr>
          <a:xfrm>
            <a:off x="1809720" y="224316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Functional Prototype:</a:t>
            </a:r>
            <a:r>
              <a:rPr b="0" lang="en-US" sz="1500" spc="-1" strike="noStrike">
                <a:solidFill>
                  <a:srgbClr val="cbd5e1"/>
                </a:solidFill>
                <a:latin typeface="Inter"/>
                <a:ea typeface="Inter"/>
              </a:rPr>
              <a:t> A fully operational AI-based hand hygiene assessment web application.</a:t>
            </a:r>
            <a:endParaRPr b="0" lang="en-US" sz="1500" spc="-1" strike="noStrike">
              <a:solidFill>
                <a:srgbClr val="ffffff"/>
              </a:solidFill>
              <a:latin typeface="Arial"/>
            </a:endParaRPr>
          </a:p>
        </p:txBody>
      </p:sp>
      <p:sp>
        <p:nvSpPr>
          <p:cNvPr id="126" name="Google Shape;205;p22"/>
          <p:cNvSpPr/>
          <p:nvPr/>
        </p:nvSpPr>
        <p:spPr>
          <a:xfrm>
            <a:off x="1809720" y="277668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Automated Detection:</a:t>
            </a:r>
            <a:r>
              <a:rPr b="0" lang="en-US" sz="1500" spc="-1" strike="noStrike">
                <a:solidFill>
                  <a:srgbClr val="cbd5e1"/>
                </a:solidFill>
                <a:latin typeface="Inter"/>
                <a:ea typeface="Inter"/>
              </a:rPr>
              <a:t> Reliable algorithmic detection of hand cleanliness levels from static images.</a:t>
            </a:r>
            <a:endParaRPr b="0" lang="en-US" sz="1500" spc="-1" strike="noStrike">
              <a:solidFill>
                <a:srgbClr val="ffffff"/>
              </a:solidFill>
              <a:latin typeface="Arial"/>
            </a:endParaRPr>
          </a:p>
        </p:txBody>
      </p:sp>
      <p:sp>
        <p:nvSpPr>
          <p:cNvPr id="127" name="Google Shape;206;p22"/>
          <p:cNvSpPr/>
          <p:nvPr/>
        </p:nvSpPr>
        <p:spPr>
          <a:xfrm>
            <a:off x="1809720" y="330984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Visual Feedback:</a:t>
            </a:r>
            <a:r>
              <a:rPr b="0" lang="en-US" sz="1500" spc="-1" strike="noStrike">
                <a:solidFill>
                  <a:srgbClr val="cbd5e1"/>
                </a:solidFill>
                <a:latin typeface="Inter"/>
                <a:ea typeface="Inter"/>
              </a:rPr>
              <a:t> Real-time overlay of bounding boxes and confidence scores on uploaded media.</a:t>
            </a:r>
            <a:endParaRPr b="0" lang="en-US" sz="1500" spc="-1" strike="noStrike">
              <a:solidFill>
                <a:srgbClr val="ffffff"/>
              </a:solidFill>
              <a:latin typeface="Arial"/>
            </a:endParaRPr>
          </a:p>
        </p:txBody>
      </p:sp>
      <p:sp>
        <p:nvSpPr>
          <p:cNvPr id="128" name="Google Shape;207;p22"/>
          <p:cNvSpPr/>
          <p:nvPr/>
        </p:nvSpPr>
        <p:spPr>
          <a:xfrm>
            <a:off x="1809720" y="3843360"/>
            <a:ext cx="904824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Practical Demonstration:</a:t>
            </a:r>
            <a:r>
              <a:rPr b="0" lang="en-US" sz="1500" spc="-1" strike="noStrike">
                <a:solidFill>
                  <a:srgbClr val="cbd5e1"/>
                </a:solidFill>
                <a:latin typeface="Inter"/>
                <a:ea typeface="Inter"/>
              </a:rPr>
              <a:t> Tangible proof of object detection techniques applied to a critical healthcare problem.</a:t>
            </a:r>
            <a:endParaRPr b="0" lang="en-US" sz="1500" spc="-1" strike="noStrike">
              <a:solidFill>
                <a:srgbClr val="ffffff"/>
              </a:solidFill>
              <a:latin typeface="Arial"/>
            </a:endParaRPr>
          </a:p>
        </p:txBody>
      </p:sp>
      <p:sp>
        <p:nvSpPr>
          <p:cNvPr id="129" name="Google Shape;208;p22"/>
          <p:cNvSpPr/>
          <p:nvPr/>
        </p:nvSpPr>
        <p:spPr>
          <a:xfrm>
            <a:off x="1809720" y="4681440"/>
            <a:ext cx="904824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Educational Value:</a:t>
            </a:r>
            <a:r>
              <a:rPr b="0" lang="en-US" sz="1500" spc="-1" strike="noStrike">
                <a:solidFill>
                  <a:srgbClr val="cbd5e1"/>
                </a:solidFill>
                <a:latin typeface="Inter"/>
                <a:ea typeface="Inter"/>
              </a:rPr>
              <a:t> Enhanced understanding of AI applications in infection prevention and hygiene education.</a:t>
            </a:r>
            <a:endParaRPr b="0" lang="en-US" sz="1500" spc="-1" strike="noStrike">
              <a:solidFill>
                <a:srgbClr val="ffffff"/>
              </a:solidFill>
              <a:latin typeface="Arial"/>
            </a:endParaRPr>
          </a:p>
        </p:txBody>
      </p:sp>
      <p:pic>
        <p:nvPicPr>
          <p:cNvPr id="130" name="Google Shape;209;p22" descr="image.png"/>
          <p:cNvPicPr/>
          <p:nvPr/>
        </p:nvPicPr>
        <p:blipFill>
          <a:blip r:embed="rId1"/>
          <a:stretch/>
        </p:blipFill>
        <p:spPr>
          <a:xfrm>
            <a:off x="1333440" y="2257560"/>
            <a:ext cx="266400" cy="275760"/>
          </a:xfrm>
          <a:prstGeom prst="rect">
            <a:avLst/>
          </a:prstGeom>
          <a:ln w="0">
            <a:noFill/>
          </a:ln>
        </p:spPr>
      </p:pic>
      <p:pic>
        <p:nvPicPr>
          <p:cNvPr id="131" name="Google Shape;210;p22" descr="image.png"/>
          <p:cNvPicPr/>
          <p:nvPr/>
        </p:nvPicPr>
        <p:blipFill>
          <a:blip r:embed="rId2"/>
          <a:stretch/>
        </p:blipFill>
        <p:spPr>
          <a:xfrm>
            <a:off x="1333440" y="2790720"/>
            <a:ext cx="266400" cy="275760"/>
          </a:xfrm>
          <a:prstGeom prst="rect">
            <a:avLst/>
          </a:prstGeom>
          <a:ln w="0">
            <a:noFill/>
          </a:ln>
        </p:spPr>
      </p:pic>
      <p:pic>
        <p:nvPicPr>
          <p:cNvPr id="132" name="Google Shape;211;p22" descr="image.png"/>
          <p:cNvPicPr/>
          <p:nvPr/>
        </p:nvPicPr>
        <p:blipFill>
          <a:blip r:embed="rId3"/>
          <a:stretch/>
        </p:blipFill>
        <p:spPr>
          <a:xfrm>
            <a:off x="1333440" y="3324240"/>
            <a:ext cx="237600" cy="275760"/>
          </a:xfrm>
          <a:prstGeom prst="rect">
            <a:avLst/>
          </a:prstGeom>
          <a:ln w="0">
            <a:noFill/>
          </a:ln>
        </p:spPr>
      </p:pic>
      <p:pic>
        <p:nvPicPr>
          <p:cNvPr id="133" name="Google Shape;212;p22" descr="image.png"/>
          <p:cNvPicPr/>
          <p:nvPr/>
        </p:nvPicPr>
        <p:blipFill>
          <a:blip r:embed="rId4"/>
          <a:stretch/>
        </p:blipFill>
        <p:spPr>
          <a:xfrm>
            <a:off x="1333440" y="3857760"/>
            <a:ext cx="304560" cy="275760"/>
          </a:xfrm>
          <a:prstGeom prst="rect">
            <a:avLst/>
          </a:prstGeom>
          <a:ln w="0">
            <a:noFill/>
          </a:ln>
        </p:spPr>
      </p:pic>
      <p:pic>
        <p:nvPicPr>
          <p:cNvPr id="134" name="Google Shape;213;p22" descr="image.png"/>
          <p:cNvPicPr/>
          <p:nvPr/>
        </p:nvPicPr>
        <p:blipFill>
          <a:blip r:embed="rId5"/>
          <a:stretch/>
        </p:blipFill>
        <p:spPr>
          <a:xfrm>
            <a:off x="1333440" y="4695840"/>
            <a:ext cx="199800" cy="275760"/>
          </a:xfrm>
          <a:prstGeom prst="rect">
            <a:avLst/>
          </a:prstGeom>
          <a:ln w="0">
            <a:noFill/>
          </a:ln>
        </p:spPr>
      </p:pic>
      <p:sp>
        <p:nvSpPr>
          <p:cNvPr id="135" name="Google Shape;214;p22"/>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Expected Outcomes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136" name="Google Shape;219;p23" descr="image.png"/>
          <p:cNvPicPr/>
          <p:nvPr/>
        </p:nvPicPr>
        <p:blipFill>
          <a:blip r:embed="rId1"/>
          <a:stretch/>
        </p:blipFill>
        <p:spPr>
          <a:xfrm>
            <a:off x="571680" y="1247760"/>
            <a:ext cx="5285880" cy="5266800"/>
          </a:xfrm>
          <a:prstGeom prst="rect">
            <a:avLst/>
          </a:prstGeom>
          <a:ln w="0">
            <a:noFill/>
          </a:ln>
        </p:spPr>
      </p:pic>
      <p:pic>
        <p:nvPicPr>
          <p:cNvPr id="137" name="Google Shape;220;p23" descr="image.png"/>
          <p:cNvPicPr/>
          <p:nvPr/>
        </p:nvPicPr>
        <p:blipFill>
          <a:blip r:embed="rId2"/>
          <a:stretch/>
        </p:blipFill>
        <p:spPr>
          <a:xfrm>
            <a:off x="6334200" y="1247760"/>
            <a:ext cx="5285880" cy="5266800"/>
          </a:xfrm>
          <a:prstGeom prst="rect">
            <a:avLst/>
          </a:prstGeom>
          <a:ln w="0">
            <a:noFill/>
          </a:ln>
        </p:spPr>
      </p:pic>
      <p:sp>
        <p:nvSpPr>
          <p:cNvPr id="138" name="Google Shape;221;p23"/>
          <p:cNvSpPr/>
          <p:nvPr/>
        </p:nvSpPr>
        <p:spPr>
          <a:xfrm>
            <a:off x="849240" y="1638360"/>
            <a:ext cx="4730400" cy="320400"/>
          </a:xfrm>
          <a:prstGeom prst="rect">
            <a:avLst/>
          </a:prstGeom>
          <a:noFill/>
          <a:ln w="0">
            <a:noFill/>
          </a:ln>
        </p:spPr>
        <p:style>
          <a:lnRef idx="0"/>
          <a:fillRef idx="0"/>
          <a:effectRef idx="0"/>
          <a:fontRef idx="minor"/>
        </p:style>
        <p:txBody>
          <a:bodyPr lIns="33336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In Scope</a:t>
            </a:r>
            <a:endParaRPr b="0" lang="en-US" sz="2100" spc="-1" strike="noStrike">
              <a:solidFill>
                <a:srgbClr val="ffffff"/>
              </a:solidFill>
              <a:latin typeface="Arial"/>
            </a:endParaRPr>
          </a:p>
        </p:txBody>
      </p:sp>
      <p:sp>
        <p:nvSpPr>
          <p:cNvPr id="139" name="Google Shape;222;p23"/>
          <p:cNvSpPr/>
          <p:nvPr/>
        </p:nvSpPr>
        <p:spPr>
          <a:xfrm>
            <a:off x="6612120" y="1638360"/>
            <a:ext cx="4730400" cy="320400"/>
          </a:xfrm>
          <a:prstGeom prst="rect">
            <a:avLst/>
          </a:prstGeom>
          <a:noFill/>
          <a:ln w="0">
            <a:noFill/>
          </a:ln>
        </p:spPr>
        <p:style>
          <a:lnRef idx="0"/>
          <a:fillRef idx="0"/>
          <a:effectRef idx="0"/>
          <a:fontRef idx="minor"/>
        </p:style>
        <p:txBody>
          <a:bodyPr lIns="304920" rIns="0" tIns="0" bIns="0" anchor="t">
            <a:spAutoFit/>
          </a:bodyPr>
          <a:p>
            <a:pPr algn="ctr">
              <a:lnSpc>
                <a:spcPct val="100000"/>
              </a:lnSpc>
              <a:tabLst>
                <a:tab algn="l" pos="0"/>
              </a:tabLst>
            </a:pPr>
            <a:r>
              <a:rPr b="0" lang="en-US" sz="2100" spc="-1" strike="noStrike">
                <a:solidFill>
                  <a:srgbClr val="f59e0b"/>
                </a:solidFill>
                <a:latin typeface="Outfit SemiBold"/>
                <a:ea typeface="Outfit SemiBold"/>
              </a:rPr>
              <a:t>Out of Scope</a:t>
            </a:r>
            <a:endParaRPr b="0" lang="en-US" sz="2100" spc="-1" strike="noStrike">
              <a:solidFill>
                <a:srgbClr val="ffffff"/>
              </a:solidFill>
              <a:latin typeface="Arial"/>
            </a:endParaRPr>
          </a:p>
        </p:txBody>
      </p:sp>
      <p:pic>
        <p:nvPicPr>
          <p:cNvPr id="140" name="Google Shape;223;p23" descr="image.png"/>
          <p:cNvPicPr/>
          <p:nvPr/>
        </p:nvPicPr>
        <p:blipFill>
          <a:blip r:embed="rId3"/>
          <a:stretch/>
        </p:blipFill>
        <p:spPr>
          <a:xfrm>
            <a:off x="2543040" y="1676520"/>
            <a:ext cx="237600" cy="266400"/>
          </a:xfrm>
          <a:prstGeom prst="rect">
            <a:avLst/>
          </a:prstGeom>
          <a:ln w="0">
            <a:noFill/>
          </a:ln>
        </p:spPr>
      </p:pic>
      <p:sp>
        <p:nvSpPr>
          <p:cNvPr id="141" name="Google Shape;224;p23"/>
          <p:cNvSpPr/>
          <p:nvPr/>
        </p:nvSpPr>
        <p:spPr>
          <a:xfrm>
            <a:off x="1095480" y="231444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42" name="Google Shape;225;p23"/>
          <p:cNvSpPr/>
          <p:nvPr/>
        </p:nvSpPr>
        <p:spPr>
          <a:xfrm>
            <a:off x="1200240" y="231444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Collection of custom UV hand image datasets.</a:t>
            </a:r>
            <a:endParaRPr b="0" lang="en-US" sz="1500" spc="-1" strike="noStrike">
              <a:solidFill>
                <a:srgbClr val="ffffff"/>
              </a:solidFill>
              <a:latin typeface="Arial"/>
            </a:endParaRPr>
          </a:p>
        </p:txBody>
      </p:sp>
      <p:sp>
        <p:nvSpPr>
          <p:cNvPr id="143" name="Google Shape;226;p23"/>
          <p:cNvSpPr/>
          <p:nvPr/>
        </p:nvSpPr>
        <p:spPr>
          <a:xfrm>
            <a:off x="1095480" y="277164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44" name="Google Shape;227;p23"/>
          <p:cNvSpPr/>
          <p:nvPr/>
        </p:nvSpPr>
        <p:spPr>
          <a:xfrm>
            <a:off x="1200240" y="2771640"/>
            <a:ext cx="4266720" cy="36612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Annotation of defined hand hygiene categories.</a:t>
            </a:r>
            <a:endParaRPr b="0" lang="en-US" sz="1500" spc="-1" strike="noStrike">
              <a:solidFill>
                <a:srgbClr val="ffffff"/>
              </a:solidFill>
              <a:latin typeface="Arial"/>
            </a:endParaRPr>
          </a:p>
        </p:txBody>
      </p:sp>
      <p:sp>
        <p:nvSpPr>
          <p:cNvPr id="145" name="Google Shape;228;p23"/>
          <p:cNvSpPr/>
          <p:nvPr/>
        </p:nvSpPr>
        <p:spPr>
          <a:xfrm>
            <a:off x="1095480" y="35337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46" name="Google Shape;229;p23"/>
          <p:cNvSpPr/>
          <p:nvPr/>
        </p:nvSpPr>
        <p:spPr>
          <a:xfrm>
            <a:off x="1200240" y="353376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YOLOv8 object detection model development.</a:t>
            </a:r>
            <a:endParaRPr b="0" lang="en-US" sz="1500" spc="-1" strike="noStrike">
              <a:solidFill>
                <a:srgbClr val="ffffff"/>
              </a:solidFill>
              <a:latin typeface="Arial"/>
            </a:endParaRPr>
          </a:p>
        </p:txBody>
      </p:sp>
      <p:sp>
        <p:nvSpPr>
          <p:cNvPr id="147" name="Google Shape;230;p23"/>
          <p:cNvSpPr/>
          <p:nvPr/>
        </p:nvSpPr>
        <p:spPr>
          <a:xfrm>
            <a:off x="1095480" y="39909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48" name="Google Shape;231;p23"/>
          <p:cNvSpPr/>
          <p:nvPr/>
        </p:nvSpPr>
        <p:spPr>
          <a:xfrm>
            <a:off x="1200240" y="399096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Classification into Clean, Partial, and Dirty.</a:t>
            </a:r>
            <a:endParaRPr b="0" lang="en-US" sz="1500" spc="-1" strike="noStrike">
              <a:solidFill>
                <a:srgbClr val="ffffff"/>
              </a:solidFill>
              <a:latin typeface="Arial"/>
            </a:endParaRPr>
          </a:p>
        </p:txBody>
      </p:sp>
      <p:sp>
        <p:nvSpPr>
          <p:cNvPr id="149" name="Google Shape;232;p23"/>
          <p:cNvSpPr/>
          <p:nvPr/>
        </p:nvSpPr>
        <p:spPr>
          <a:xfrm>
            <a:off x="1095480" y="44481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50" name="Google Shape;233;p23"/>
          <p:cNvSpPr/>
          <p:nvPr/>
        </p:nvSpPr>
        <p:spPr>
          <a:xfrm>
            <a:off x="1200240" y="4448160"/>
            <a:ext cx="42667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Development of a Streamlit-based user interface.</a:t>
            </a:r>
            <a:endParaRPr b="0" lang="en-US" sz="1500" spc="-1" strike="noStrike">
              <a:solidFill>
                <a:srgbClr val="ffffff"/>
              </a:solidFill>
              <a:latin typeface="Arial"/>
            </a:endParaRPr>
          </a:p>
        </p:txBody>
      </p:sp>
      <p:sp>
        <p:nvSpPr>
          <p:cNvPr id="151" name="Google Shape;234;p23"/>
          <p:cNvSpPr/>
          <p:nvPr/>
        </p:nvSpPr>
        <p:spPr>
          <a:xfrm>
            <a:off x="1095480" y="52102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52" name="Google Shape;235;p23"/>
          <p:cNvSpPr/>
          <p:nvPr/>
        </p:nvSpPr>
        <p:spPr>
          <a:xfrm>
            <a:off x="1200240" y="521028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Real-time image analysis and visual feedback.</a:t>
            </a:r>
            <a:endParaRPr b="0" lang="en-US" sz="1500" spc="-1" strike="noStrike">
              <a:solidFill>
                <a:srgbClr val="ffffff"/>
              </a:solidFill>
              <a:latin typeface="Arial"/>
            </a:endParaRPr>
          </a:p>
        </p:txBody>
      </p:sp>
      <p:sp>
        <p:nvSpPr>
          <p:cNvPr id="153" name="Google Shape;236;p23"/>
          <p:cNvSpPr/>
          <p:nvPr/>
        </p:nvSpPr>
        <p:spPr>
          <a:xfrm>
            <a:off x="1095480" y="56674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54" name="Google Shape;237;p23"/>
          <p:cNvSpPr/>
          <p:nvPr/>
        </p:nvSpPr>
        <p:spPr>
          <a:xfrm>
            <a:off x="1200240" y="566748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Standard performance metric evaluation.</a:t>
            </a:r>
            <a:endParaRPr b="0" lang="en-US" sz="1500" spc="-1" strike="noStrike">
              <a:solidFill>
                <a:srgbClr val="ffffff"/>
              </a:solidFill>
              <a:latin typeface="Arial"/>
            </a:endParaRPr>
          </a:p>
        </p:txBody>
      </p:sp>
      <p:pic>
        <p:nvPicPr>
          <p:cNvPr id="155" name="Google Shape;238;p23" descr="image.png"/>
          <p:cNvPicPr/>
          <p:nvPr/>
        </p:nvPicPr>
        <p:blipFill>
          <a:blip r:embed="rId4"/>
          <a:stretch/>
        </p:blipFill>
        <p:spPr>
          <a:xfrm>
            <a:off x="8048520" y="1676520"/>
            <a:ext cx="209160" cy="266400"/>
          </a:xfrm>
          <a:prstGeom prst="rect">
            <a:avLst/>
          </a:prstGeom>
          <a:ln w="0">
            <a:noFill/>
          </a:ln>
        </p:spPr>
      </p:pic>
      <p:sp>
        <p:nvSpPr>
          <p:cNvPr id="156" name="Google Shape;239;p23"/>
          <p:cNvSpPr/>
          <p:nvPr/>
        </p:nvSpPr>
        <p:spPr>
          <a:xfrm>
            <a:off x="6858000" y="231444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57" name="Google Shape;240;p23"/>
          <p:cNvSpPr/>
          <p:nvPr/>
        </p:nvSpPr>
        <p:spPr>
          <a:xfrm>
            <a:off x="6962760" y="2314440"/>
            <a:ext cx="42667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Real-time video processing and live camera feeds.</a:t>
            </a:r>
            <a:endParaRPr b="0" lang="en-US" sz="1500" spc="-1" strike="noStrike">
              <a:solidFill>
                <a:srgbClr val="ffffff"/>
              </a:solidFill>
              <a:latin typeface="Arial"/>
            </a:endParaRPr>
          </a:p>
        </p:txBody>
      </p:sp>
      <p:sp>
        <p:nvSpPr>
          <p:cNvPr id="158" name="Google Shape;241;p23"/>
          <p:cNvSpPr/>
          <p:nvPr/>
        </p:nvSpPr>
        <p:spPr>
          <a:xfrm>
            <a:off x="6858000" y="30765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59" name="Google Shape;242;p23"/>
          <p:cNvSpPr/>
          <p:nvPr/>
        </p:nvSpPr>
        <p:spPr>
          <a:xfrm>
            <a:off x="6962760" y="307656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Integration with hospital information systems.</a:t>
            </a:r>
            <a:endParaRPr b="0" lang="en-US" sz="1500" spc="-1" strike="noStrike">
              <a:solidFill>
                <a:srgbClr val="ffffff"/>
              </a:solidFill>
              <a:latin typeface="Arial"/>
            </a:endParaRPr>
          </a:p>
        </p:txBody>
      </p:sp>
      <p:sp>
        <p:nvSpPr>
          <p:cNvPr id="160" name="Google Shape;243;p23"/>
          <p:cNvSpPr/>
          <p:nvPr/>
        </p:nvSpPr>
        <p:spPr>
          <a:xfrm>
            <a:off x="6858000" y="35337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61" name="Google Shape;244;p23"/>
          <p:cNvSpPr/>
          <p:nvPr/>
        </p:nvSpPr>
        <p:spPr>
          <a:xfrm>
            <a:off x="6962760" y="353376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User account management and authentication.</a:t>
            </a:r>
            <a:endParaRPr b="0" lang="en-US" sz="1500" spc="-1" strike="noStrike">
              <a:solidFill>
                <a:srgbClr val="ffffff"/>
              </a:solidFill>
              <a:latin typeface="Arial"/>
            </a:endParaRPr>
          </a:p>
        </p:txBody>
      </p:sp>
      <p:sp>
        <p:nvSpPr>
          <p:cNvPr id="162" name="Google Shape;245;p23"/>
          <p:cNvSpPr/>
          <p:nvPr/>
        </p:nvSpPr>
        <p:spPr>
          <a:xfrm>
            <a:off x="6858000" y="39909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63" name="Google Shape;246;p23"/>
          <p:cNvSpPr/>
          <p:nvPr/>
        </p:nvSpPr>
        <p:spPr>
          <a:xfrm>
            <a:off x="6962760" y="399096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Database storage of assessment results.</a:t>
            </a:r>
            <a:endParaRPr b="0" lang="en-US" sz="1500" spc="-1" strike="noStrike">
              <a:solidFill>
                <a:srgbClr val="ffffff"/>
              </a:solidFill>
              <a:latin typeface="Arial"/>
            </a:endParaRPr>
          </a:p>
        </p:txBody>
      </p:sp>
      <p:sp>
        <p:nvSpPr>
          <p:cNvPr id="164" name="Google Shape;247;p23"/>
          <p:cNvSpPr/>
          <p:nvPr/>
        </p:nvSpPr>
        <p:spPr>
          <a:xfrm>
            <a:off x="6858000" y="44481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65" name="Google Shape;248;p23"/>
          <p:cNvSpPr/>
          <p:nvPr/>
        </p:nvSpPr>
        <p:spPr>
          <a:xfrm>
            <a:off x="6962760" y="444816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Mobile application deployment.</a:t>
            </a:r>
            <a:endParaRPr b="0" lang="en-US" sz="1500" spc="-1" strike="noStrike">
              <a:solidFill>
                <a:srgbClr val="ffffff"/>
              </a:solidFill>
              <a:latin typeface="Arial"/>
            </a:endParaRPr>
          </a:p>
        </p:txBody>
      </p:sp>
      <p:sp>
        <p:nvSpPr>
          <p:cNvPr id="166" name="Google Shape;249;p23"/>
          <p:cNvSpPr/>
          <p:nvPr/>
        </p:nvSpPr>
        <p:spPr>
          <a:xfrm>
            <a:off x="6858000" y="49053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67" name="Google Shape;250;p23"/>
          <p:cNvSpPr/>
          <p:nvPr/>
        </p:nvSpPr>
        <p:spPr>
          <a:xfrm>
            <a:off x="6962760" y="490536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Clinical diagnosis or medical decision-making.</a:t>
            </a:r>
            <a:endParaRPr b="0" lang="en-US" sz="1500" spc="-1" strike="noStrike">
              <a:solidFill>
                <a:srgbClr val="ffffff"/>
              </a:solidFill>
              <a:latin typeface="Arial"/>
            </a:endParaRPr>
          </a:p>
        </p:txBody>
      </p:sp>
      <p:sp>
        <p:nvSpPr>
          <p:cNvPr id="168" name="Google Shape;251;p23"/>
          <p:cNvSpPr/>
          <p:nvPr/>
        </p:nvSpPr>
        <p:spPr>
          <a:xfrm>
            <a:off x="571680" y="3430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Project Scope Boundaries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169" name="Google Shape;256;p24" descr="image.png"/>
          <p:cNvPicPr/>
          <p:nvPr/>
        </p:nvPicPr>
        <p:blipFill>
          <a:blip r:embed="rId1"/>
          <a:stretch/>
        </p:blipFill>
        <p:spPr>
          <a:xfrm>
            <a:off x="571680" y="1271520"/>
            <a:ext cx="5285880" cy="5219280"/>
          </a:xfrm>
          <a:prstGeom prst="rect">
            <a:avLst/>
          </a:prstGeom>
          <a:ln w="0">
            <a:noFill/>
          </a:ln>
        </p:spPr>
      </p:pic>
      <p:pic>
        <p:nvPicPr>
          <p:cNvPr id="170" name="Google Shape;257;p24" descr="image.png"/>
          <p:cNvPicPr/>
          <p:nvPr/>
        </p:nvPicPr>
        <p:blipFill>
          <a:blip r:embed="rId2"/>
          <a:stretch/>
        </p:blipFill>
        <p:spPr>
          <a:xfrm>
            <a:off x="6334200" y="1271520"/>
            <a:ext cx="5285880" cy="5219280"/>
          </a:xfrm>
          <a:prstGeom prst="rect">
            <a:avLst/>
          </a:prstGeom>
          <a:ln w="0">
            <a:noFill/>
          </a:ln>
        </p:spPr>
      </p:pic>
      <p:sp>
        <p:nvSpPr>
          <p:cNvPr id="171" name="Google Shape;258;p24"/>
          <p:cNvSpPr/>
          <p:nvPr/>
        </p:nvSpPr>
        <p:spPr>
          <a:xfrm>
            <a:off x="849240" y="1662120"/>
            <a:ext cx="4730400" cy="3204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Project Constraints</a:t>
            </a:r>
            <a:endParaRPr b="0" lang="en-US" sz="2100" spc="-1" strike="noStrike">
              <a:solidFill>
                <a:srgbClr val="ffffff"/>
              </a:solidFill>
              <a:latin typeface="Arial"/>
            </a:endParaRPr>
          </a:p>
        </p:txBody>
      </p:sp>
      <p:sp>
        <p:nvSpPr>
          <p:cNvPr id="172" name="Google Shape;259;p24"/>
          <p:cNvSpPr/>
          <p:nvPr/>
        </p:nvSpPr>
        <p:spPr>
          <a:xfrm>
            <a:off x="961920" y="2147760"/>
            <a:ext cx="450504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Factors that governed the development process and resource allocation.</a:t>
            </a:r>
            <a:endParaRPr b="0" lang="en-US" sz="1500" spc="-1" strike="noStrike">
              <a:solidFill>
                <a:srgbClr val="ffffff"/>
              </a:solidFill>
              <a:latin typeface="Arial"/>
            </a:endParaRPr>
          </a:p>
        </p:txBody>
      </p:sp>
      <p:sp>
        <p:nvSpPr>
          <p:cNvPr id="173" name="Google Shape;260;p24"/>
          <p:cNvSpPr/>
          <p:nvPr/>
        </p:nvSpPr>
        <p:spPr>
          <a:xfrm>
            <a:off x="6612120" y="1662120"/>
            <a:ext cx="4730400" cy="3204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System Limitations</a:t>
            </a:r>
            <a:endParaRPr b="0" lang="en-US" sz="2100" spc="-1" strike="noStrike">
              <a:solidFill>
                <a:srgbClr val="ffffff"/>
              </a:solidFill>
              <a:latin typeface="Arial"/>
            </a:endParaRPr>
          </a:p>
        </p:txBody>
      </p:sp>
      <p:sp>
        <p:nvSpPr>
          <p:cNvPr id="174" name="Google Shape;261;p24"/>
          <p:cNvSpPr/>
          <p:nvPr/>
        </p:nvSpPr>
        <p:spPr>
          <a:xfrm>
            <a:off x="6724800" y="2147760"/>
            <a:ext cx="450504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Acknowledged bounds of the developed prototype's capabilities.</a:t>
            </a:r>
            <a:endParaRPr b="0" lang="en-US" sz="1500" spc="-1" strike="noStrike">
              <a:solidFill>
                <a:srgbClr val="ffffff"/>
              </a:solidFill>
              <a:latin typeface="Arial"/>
            </a:endParaRPr>
          </a:p>
        </p:txBody>
      </p:sp>
      <p:sp>
        <p:nvSpPr>
          <p:cNvPr id="175" name="Google Shape;262;p24"/>
          <p:cNvSpPr/>
          <p:nvPr/>
        </p:nvSpPr>
        <p:spPr>
          <a:xfrm>
            <a:off x="1095480" y="30528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76" name="Google Shape;263;p24"/>
          <p:cNvSpPr/>
          <p:nvPr/>
        </p:nvSpPr>
        <p:spPr>
          <a:xfrm>
            <a:off x="1200240" y="305280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Strict timeframe (January – April 2026).</a:t>
            </a:r>
            <a:endParaRPr b="0" lang="en-US" sz="1500" spc="-1" strike="noStrike">
              <a:solidFill>
                <a:srgbClr val="ffffff"/>
              </a:solidFill>
              <a:latin typeface="Arial"/>
            </a:endParaRPr>
          </a:p>
        </p:txBody>
      </p:sp>
      <p:sp>
        <p:nvSpPr>
          <p:cNvPr id="177" name="Google Shape;264;p24"/>
          <p:cNvSpPr/>
          <p:nvPr/>
        </p:nvSpPr>
        <p:spPr>
          <a:xfrm>
            <a:off x="1095480" y="35100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78" name="Google Shape;265;p24"/>
          <p:cNvSpPr/>
          <p:nvPr/>
        </p:nvSpPr>
        <p:spPr>
          <a:xfrm>
            <a:off x="1200240" y="351000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Availability of volunteers for data collection.</a:t>
            </a:r>
            <a:endParaRPr b="0" lang="en-US" sz="1500" spc="-1" strike="noStrike">
              <a:solidFill>
                <a:srgbClr val="ffffff"/>
              </a:solidFill>
              <a:latin typeface="Arial"/>
            </a:endParaRPr>
          </a:p>
        </p:txBody>
      </p:sp>
      <p:sp>
        <p:nvSpPr>
          <p:cNvPr id="179" name="Google Shape;266;p24"/>
          <p:cNvSpPr/>
          <p:nvPr/>
        </p:nvSpPr>
        <p:spPr>
          <a:xfrm>
            <a:off x="1095480" y="39672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80" name="Google Shape;267;p24"/>
          <p:cNvSpPr/>
          <p:nvPr/>
        </p:nvSpPr>
        <p:spPr>
          <a:xfrm>
            <a:off x="1200240" y="3967200"/>
            <a:ext cx="42667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Access to specialised UV imaging equipment.</a:t>
            </a:r>
            <a:endParaRPr b="0" lang="en-US" sz="1500" spc="-1" strike="noStrike">
              <a:solidFill>
                <a:srgbClr val="ffffff"/>
              </a:solidFill>
              <a:latin typeface="Arial"/>
            </a:endParaRPr>
          </a:p>
        </p:txBody>
      </p:sp>
      <p:sp>
        <p:nvSpPr>
          <p:cNvPr id="181" name="Google Shape;268;p24"/>
          <p:cNvSpPr/>
          <p:nvPr/>
        </p:nvSpPr>
        <p:spPr>
          <a:xfrm>
            <a:off x="1095480" y="44244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82" name="Google Shape;269;p24"/>
          <p:cNvSpPr/>
          <p:nvPr/>
        </p:nvSpPr>
        <p:spPr>
          <a:xfrm>
            <a:off x="1200240" y="4424400"/>
            <a:ext cx="4266720" cy="36612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Computational demands for GPU model training.</a:t>
            </a:r>
            <a:endParaRPr b="0" lang="en-US" sz="1500" spc="-1" strike="noStrike">
              <a:solidFill>
                <a:srgbClr val="ffffff"/>
              </a:solidFill>
              <a:latin typeface="Arial"/>
            </a:endParaRPr>
          </a:p>
        </p:txBody>
      </p:sp>
      <p:sp>
        <p:nvSpPr>
          <p:cNvPr id="183" name="Google Shape;270;p24"/>
          <p:cNvSpPr/>
          <p:nvPr/>
        </p:nvSpPr>
        <p:spPr>
          <a:xfrm>
            <a:off x="6858000" y="30528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84" name="Google Shape;271;p24"/>
          <p:cNvSpPr/>
          <p:nvPr/>
        </p:nvSpPr>
        <p:spPr>
          <a:xfrm>
            <a:off x="6962760" y="3052800"/>
            <a:ext cx="42667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Dataset size is small relative to industrial standards.</a:t>
            </a:r>
            <a:endParaRPr b="0" lang="en-US" sz="1500" spc="-1" strike="noStrike">
              <a:solidFill>
                <a:srgbClr val="ffffff"/>
              </a:solidFill>
              <a:latin typeface="Arial"/>
            </a:endParaRPr>
          </a:p>
        </p:txBody>
      </p:sp>
      <p:sp>
        <p:nvSpPr>
          <p:cNvPr id="185" name="Google Shape;272;p24"/>
          <p:cNvSpPr/>
          <p:nvPr/>
        </p:nvSpPr>
        <p:spPr>
          <a:xfrm>
            <a:off x="6858000" y="381492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86" name="Google Shape;273;p24"/>
          <p:cNvSpPr/>
          <p:nvPr/>
        </p:nvSpPr>
        <p:spPr>
          <a:xfrm>
            <a:off x="6962760" y="3814920"/>
            <a:ext cx="42667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Data collected in highly controlled environments only.</a:t>
            </a:r>
            <a:endParaRPr b="0" lang="en-US" sz="1500" spc="-1" strike="noStrike">
              <a:solidFill>
                <a:srgbClr val="ffffff"/>
              </a:solidFill>
              <a:latin typeface="Arial"/>
            </a:endParaRPr>
          </a:p>
        </p:txBody>
      </p:sp>
      <p:sp>
        <p:nvSpPr>
          <p:cNvPr id="187" name="Google Shape;274;p24"/>
          <p:cNvSpPr/>
          <p:nvPr/>
        </p:nvSpPr>
        <p:spPr>
          <a:xfrm>
            <a:off x="6858000" y="45766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88" name="Google Shape;275;p24"/>
          <p:cNvSpPr/>
          <p:nvPr/>
        </p:nvSpPr>
        <p:spPr>
          <a:xfrm>
            <a:off x="6962760" y="4576680"/>
            <a:ext cx="42667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Analyses static images rather than live video streams.</a:t>
            </a:r>
            <a:endParaRPr b="0" lang="en-US" sz="1500" spc="-1" strike="noStrike">
              <a:solidFill>
                <a:srgbClr val="ffffff"/>
              </a:solidFill>
              <a:latin typeface="Arial"/>
            </a:endParaRPr>
          </a:p>
        </p:txBody>
      </p:sp>
      <p:sp>
        <p:nvSpPr>
          <p:cNvPr id="189" name="Google Shape;276;p24"/>
          <p:cNvSpPr/>
          <p:nvPr/>
        </p:nvSpPr>
        <p:spPr>
          <a:xfrm>
            <a:off x="6858000" y="53388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190" name="Google Shape;277;p24"/>
          <p:cNvSpPr/>
          <p:nvPr/>
        </p:nvSpPr>
        <p:spPr>
          <a:xfrm>
            <a:off x="6962760" y="5338800"/>
            <a:ext cx="4266720" cy="36612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Results vary under different UV ambient lighting.</a:t>
            </a:r>
            <a:endParaRPr b="0" lang="en-US" sz="1500" spc="-1" strike="noStrike">
              <a:solidFill>
                <a:srgbClr val="ffffff"/>
              </a:solidFill>
              <a:latin typeface="Arial"/>
            </a:endParaRPr>
          </a:p>
        </p:txBody>
      </p:sp>
      <p:sp>
        <p:nvSpPr>
          <p:cNvPr id="191" name="Google Shape;278;p24"/>
          <p:cNvSpPr/>
          <p:nvPr/>
        </p:nvSpPr>
        <p:spPr>
          <a:xfrm>
            <a:off x="571680" y="36684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Constraints &amp; Limitations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192" name="Google Shape;283;p25" descr="image.png"/>
          <p:cNvPicPr/>
          <p:nvPr/>
        </p:nvPicPr>
        <p:blipFill>
          <a:blip r:embed="rId1"/>
          <a:stretch/>
        </p:blipFill>
        <p:spPr>
          <a:xfrm>
            <a:off x="571680" y="1890720"/>
            <a:ext cx="3428640" cy="3981240"/>
          </a:xfrm>
          <a:prstGeom prst="rect">
            <a:avLst/>
          </a:prstGeom>
          <a:ln w="0">
            <a:noFill/>
          </a:ln>
        </p:spPr>
      </p:pic>
      <p:pic>
        <p:nvPicPr>
          <p:cNvPr id="193" name="Google Shape;284;p25" descr="image.png"/>
          <p:cNvPicPr/>
          <p:nvPr/>
        </p:nvPicPr>
        <p:blipFill>
          <a:blip r:embed="rId2"/>
          <a:stretch/>
        </p:blipFill>
        <p:spPr>
          <a:xfrm>
            <a:off x="4381560" y="1890720"/>
            <a:ext cx="3428640" cy="3981240"/>
          </a:xfrm>
          <a:prstGeom prst="rect">
            <a:avLst/>
          </a:prstGeom>
          <a:ln w="0">
            <a:noFill/>
          </a:ln>
        </p:spPr>
      </p:pic>
      <p:pic>
        <p:nvPicPr>
          <p:cNvPr id="194" name="Google Shape;285;p25" descr="image.png"/>
          <p:cNvPicPr/>
          <p:nvPr/>
        </p:nvPicPr>
        <p:blipFill>
          <a:blip r:embed="rId3"/>
          <a:stretch/>
        </p:blipFill>
        <p:spPr>
          <a:xfrm>
            <a:off x="8191440" y="1890720"/>
            <a:ext cx="3428640" cy="3981240"/>
          </a:xfrm>
          <a:prstGeom prst="rect">
            <a:avLst/>
          </a:prstGeom>
          <a:ln w="0">
            <a:noFill/>
          </a:ln>
        </p:spPr>
      </p:pic>
      <p:sp>
        <p:nvSpPr>
          <p:cNvPr id="195" name="Google Shape;286;p25"/>
          <p:cNvSpPr/>
          <p:nvPr/>
        </p:nvSpPr>
        <p:spPr>
          <a:xfrm>
            <a:off x="1580760" y="3062160"/>
            <a:ext cx="140976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Healthcare</a:t>
            </a:r>
            <a:endParaRPr b="0" lang="en-US" sz="2100" spc="-1" strike="noStrike">
              <a:solidFill>
                <a:srgbClr val="ffffff"/>
              </a:solidFill>
              <a:latin typeface="Arial"/>
            </a:endParaRPr>
          </a:p>
        </p:txBody>
      </p:sp>
      <p:sp>
        <p:nvSpPr>
          <p:cNvPr id="196" name="Google Shape;287;p25"/>
          <p:cNvSpPr/>
          <p:nvPr/>
        </p:nvSpPr>
        <p:spPr>
          <a:xfrm>
            <a:off x="866880" y="3548160"/>
            <a:ext cx="2838240" cy="18284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Hospitals, clinics, and medical professionals requiring advanced tools for staff hygiene training and stringent infection prevention activities.</a:t>
            </a:r>
            <a:endParaRPr b="0" lang="en-US" sz="1500" spc="-1" strike="noStrike">
              <a:solidFill>
                <a:srgbClr val="ffffff"/>
              </a:solidFill>
              <a:latin typeface="Arial"/>
            </a:endParaRPr>
          </a:p>
        </p:txBody>
      </p:sp>
      <p:sp>
        <p:nvSpPr>
          <p:cNvPr id="197" name="Google Shape;288;p25"/>
          <p:cNvSpPr/>
          <p:nvPr/>
        </p:nvSpPr>
        <p:spPr>
          <a:xfrm>
            <a:off x="5455800" y="3062160"/>
            <a:ext cx="127980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Education</a:t>
            </a:r>
            <a:endParaRPr b="0" lang="en-US" sz="2100" spc="-1" strike="noStrike">
              <a:solidFill>
                <a:srgbClr val="ffffff"/>
              </a:solidFill>
              <a:latin typeface="Arial"/>
            </a:endParaRPr>
          </a:p>
        </p:txBody>
      </p:sp>
      <p:sp>
        <p:nvSpPr>
          <p:cNvPr id="198" name="Google Shape;289;p25"/>
          <p:cNvSpPr/>
          <p:nvPr/>
        </p:nvSpPr>
        <p:spPr>
          <a:xfrm>
            <a:off x="4676760" y="3548160"/>
            <a:ext cx="2838240" cy="18284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Universities and schools utilizing the platform to conduct hygiene education demonstrations and reinforce proper sanitation techniques.</a:t>
            </a:r>
            <a:endParaRPr b="0" lang="en-US" sz="1500" spc="-1" strike="noStrike">
              <a:solidFill>
                <a:srgbClr val="ffffff"/>
              </a:solidFill>
              <a:latin typeface="Arial"/>
            </a:endParaRPr>
          </a:p>
        </p:txBody>
      </p:sp>
      <p:sp>
        <p:nvSpPr>
          <p:cNvPr id="199" name="Google Shape;290;p25"/>
          <p:cNvSpPr/>
          <p:nvPr/>
        </p:nvSpPr>
        <p:spPr>
          <a:xfrm>
            <a:off x="9090720" y="3062160"/>
            <a:ext cx="162972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Laboratories</a:t>
            </a:r>
            <a:endParaRPr b="0" lang="en-US" sz="2100" spc="-1" strike="noStrike">
              <a:solidFill>
                <a:srgbClr val="ffffff"/>
              </a:solidFill>
              <a:latin typeface="Arial"/>
            </a:endParaRPr>
          </a:p>
        </p:txBody>
      </p:sp>
      <p:sp>
        <p:nvSpPr>
          <p:cNvPr id="200" name="Google Shape;291;p25"/>
          <p:cNvSpPr/>
          <p:nvPr/>
        </p:nvSpPr>
        <p:spPr>
          <a:xfrm>
            <a:off x="8486640" y="3548160"/>
            <a:ext cx="2838240" cy="18284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Lab personnel and researchers utilizing the system as a supplementary check to ensure strict contamination prevention procedures are followed.</a:t>
            </a:r>
            <a:endParaRPr b="0" lang="en-US" sz="1500" spc="-1" strike="noStrike">
              <a:solidFill>
                <a:srgbClr val="ffffff"/>
              </a:solidFill>
              <a:latin typeface="Arial"/>
            </a:endParaRPr>
          </a:p>
        </p:txBody>
      </p:sp>
      <p:pic>
        <p:nvPicPr>
          <p:cNvPr id="201" name="Google Shape;292;p25" descr="image.png"/>
          <p:cNvPicPr/>
          <p:nvPr/>
        </p:nvPicPr>
        <p:blipFill>
          <a:blip r:embed="rId4"/>
          <a:stretch/>
        </p:blipFill>
        <p:spPr>
          <a:xfrm>
            <a:off x="2066760" y="2281320"/>
            <a:ext cx="437760" cy="495000"/>
          </a:xfrm>
          <a:prstGeom prst="rect">
            <a:avLst/>
          </a:prstGeom>
          <a:ln w="0">
            <a:noFill/>
          </a:ln>
        </p:spPr>
      </p:pic>
      <p:pic>
        <p:nvPicPr>
          <p:cNvPr id="202" name="Google Shape;293;p25" descr="image.png"/>
          <p:cNvPicPr/>
          <p:nvPr/>
        </p:nvPicPr>
        <p:blipFill>
          <a:blip r:embed="rId5"/>
          <a:stretch/>
        </p:blipFill>
        <p:spPr>
          <a:xfrm>
            <a:off x="5786280" y="2281320"/>
            <a:ext cx="618840" cy="495000"/>
          </a:xfrm>
          <a:prstGeom prst="rect">
            <a:avLst/>
          </a:prstGeom>
          <a:ln w="0">
            <a:noFill/>
          </a:ln>
        </p:spPr>
      </p:pic>
      <p:pic>
        <p:nvPicPr>
          <p:cNvPr id="203" name="Google Shape;294;p25" descr="image.png"/>
          <p:cNvPicPr/>
          <p:nvPr/>
        </p:nvPicPr>
        <p:blipFill>
          <a:blip r:embed="rId6"/>
          <a:stretch/>
        </p:blipFill>
        <p:spPr>
          <a:xfrm>
            <a:off x="9658440" y="2281320"/>
            <a:ext cx="495000" cy="495000"/>
          </a:xfrm>
          <a:prstGeom prst="rect">
            <a:avLst/>
          </a:prstGeom>
          <a:ln w="0">
            <a:noFill/>
          </a:ln>
        </p:spPr>
      </p:pic>
      <p:sp>
        <p:nvSpPr>
          <p:cNvPr id="204" name="Google Shape;295;p25"/>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Key Stakeholders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05" name="Google Shape;300;p26"/>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06" name="Google Shape;301;p26"/>
          <p:cNvSpPr/>
          <p:nvPr/>
        </p:nvSpPr>
        <p:spPr>
          <a:xfrm>
            <a:off x="1820520" y="2877480"/>
            <a:ext cx="855072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03. Approach &amp; Methodology</a:t>
            </a:r>
            <a:endParaRPr b="0" lang="en-US" sz="4800" spc="-1" strike="noStrike">
              <a:solidFill>
                <a:srgbClr val="ffffff"/>
              </a:solidFill>
              <a:latin typeface="Arial"/>
            </a:endParaRPr>
          </a:p>
        </p:txBody>
      </p:sp>
      <p:sp>
        <p:nvSpPr>
          <p:cNvPr id="207" name="Google Shape;302;p26"/>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Combining academic research protocols with agile software engineering practices for robust delivery.</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08" name="Google Shape;307;p27"/>
          <p:cNvSpPr/>
          <p:nvPr/>
        </p:nvSpPr>
        <p:spPr>
          <a:xfrm>
            <a:off x="1809720" y="228132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Investigation:</a:t>
            </a:r>
            <a:r>
              <a:rPr b="0" lang="en-US" sz="1500" spc="-1" strike="noStrike">
                <a:solidFill>
                  <a:srgbClr val="cbd5e1"/>
                </a:solidFill>
                <a:latin typeface="Inter"/>
                <a:ea typeface="Inter"/>
              </a:rPr>
              <a:t> Review hand hygiene challenges and existing computer-vision techniques.</a:t>
            </a:r>
            <a:endParaRPr b="0" lang="en-US" sz="1500" spc="-1" strike="noStrike">
              <a:solidFill>
                <a:srgbClr val="ffffff"/>
              </a:solidFill>
              <a:latin typeface="Arial"/>
            </a:endParaRPr>
          </a:p>
        </p:txBody>
      </p:sp>
      <p:sp>
        <p:nvSpPr>
          <p:cNvPr id="209" name="Google Shape;308;p27"/>
          <p:cNvSpPr/>
          <p:nvPr/>
        </p:nvSpPr>
        <p:spPr>
          <a:xfrm>
            <a:off x="1809720" y="281448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Acquisition:</a:t>
            </a:r>
            <a:r>
              <a:rPr b="0" lang="en-US" sz="1500" spc="-1" strike="noStrike">
                <a:solidFill>
                  <a:srgbClr val="cbd5e1"/>
                </a:solidFill>
                <a:latin typeface="Inter"/>
                <a:ea typeface="Inter"/>
              </a:rPr>
              <a:t> Collect raw UV hand image data using specialized lighting setups.</a:t>
            </a:r>
            <a:endParaRPr b="0" lang="en-US" sz="1500" spc="-1" strike="noStrike">
              <a:solidFill>
                <a:srgbClr val="ffffff"/>
              </a:solidFill>
              <a:latin typeface="Arial"/>
            </a:endParaRPr>
          </a:p>
        </p:txBody>
      </p:sp>
      <p:sp>
        <p:nvSpPr>
          <p:cNvPr id="210" name="Google Shape;309;p27"/>
          <p:cNvSpPr/>
          <p:nvPr/>
        </p:nvSpPr>
        <p:spPr>
          <a:xfrm>
            <a:off x="1809720" y="334800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Preparation:</a:t>
            </a:r>
            <a:r>
              <a:rPr b="0" lang="en-US" sz="1500" spc="-1" strike="noStrike">
                <a:solidFill>
                  <a:srgbClr val="cbd5e1"/>
                </a:solidFill>
                <a:latin typeface="Inter"/>
                <a:ea typeface="Inter"/>
              </a:rPr>
              <a:t> Rigorously annotate and augment the dataset for optimal machine learning ingestion.</a:t>
            </a:r>
            <a:endParaRPr b="0" lang="en-US" sz="1500" spc="-1" strike="noStrike">
              <a:solidFill>
                <a:srgbClr val="ffffff"/>
              </a:solidFill>
              <a:latin typeface="Arial"/>
            </a:endParaRPr>
          </a:p>
        </p:txBody>
      </p:sp>
      <p:sp>
        <p:nvSpPr>
          <p:cNvPr id="211" name="Google Shape;310;p27"/>
          <p:cNvSpPr/>
          <p:nvPr/>
        </p:nvSpPr>
        <p:spPr>
          <a:xfrm>
            <a:off x="1809720" y="388152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Development:</a:t>
            </a:r>
            <a:r>
              <a:rPr b="0" lang="en-US" sz="1500" spc="-1" strike="noStrike">
                <a:solidFill>
                  <a:srgbClr val="cbd5e1"/>
                </a:solidFill>
                <a:latin typeface="Inter"/>
                <a:ea typeface="Inter"/>
              </a:rPr>
              <a:t> Train and fine-tune the object detection model using the YOLOv8 architecture.</a:t>
            </a:r>
            <a:endParaRPr b="0" lang="en-US" sz="1500" spc="-1" strike="noStrike">
              <a:solidFill>
                <a:srgbClr val="ffffff"/>
              </a:solidFill>
              <a:latin typeface="Arial"/>
            </a:endParaRPr>
          </a:p>
        </p:txBody>
      </p:sp>
      <p:sp>
        <p:nvSpPr>
          <p:cNvPr id="212" name="Google Shape;311;p27"/>
          <p:cNvSpPr/>
          <p:nvPr/>
        </p:nvSpPr>
        <p:spPr>
          <a:xfrm>
            <a:off x="1809720" y="441468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Validation:</a:t>
            </a:r>
            <a:r>
              <a:rPr b="0" lang="en-US" sz="1500" spc="-1" strike="noStrike">
                <a:solidFill>
                  <a:srgbClr val="cbd5e1"/>
                </a:solidFill>
                <a:latin typeface="Inter"/>
                <a:ea typeface="Inter"/>
              </a:rPr>
              <a:t> Evaluate performance using strict precision, recall, and mAP metrics.</a:t>
            </a:r>
            <a:endParaRPr b="0" lang="en-US" sz="1500" spc="-1" strike="noStrike">
              <a:solidFill>
                <a:srgbClr val="ffffff"/>
              </a:solidFill>
              <a:latin typeface="Arial"/>
            </a:endParaRPr>
          </a:p>
        </p:txBody>
      </p:sp>
      <p:sp>
        <p:nvSpPr>
          <p:cNvPr id="213" name="Google Shape;312;p27"/>
          <p:cNvSpPr/>
          <p:nvPr/>
        </p:nvSpPr>
        <p:spPr>
          <a:xfrm>
            <a:off x="1809720" y="4948200"/>
            <a:ext cx="90482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f8fafc"/>
                </a:solidFill>
                <a:latin typeface="Inter SemiBold"/>
                <a:ea typeface="Inter SemiBold"/>
              </a:rPr>
              <a:t>Deployment:</a:t>
            </a:r>
            <a:r>
              <a:rPr b="0" lang="en-US" sz="1500" spc="-1" strike="noStrike">
                <a:solidFill>
                  <a:srgbClr val="cbd5e1"/>
                </a:solidFill>
                <a:latin typeface="Inter"/>
                <a:ea typeface="Inter"/>
              </a:rPr>
              <a:t> Build a Streamlit interface and conduct end-to-end system demonstrations.</a:t>
            </a:r>
            <a:endParaRPr b="0" lang="en-US" sz="1500" spc="-1" strike="noStrike">
              <a:solidFill>
                <a:srgbClr val="ffffff"/>
              </a:solidFill>
              <a:latin typeface="Arial"/>
            </a:endParaRPr>
          </a:p>
        </p:txBody>
      </p:sp>
      <p:pic>
        <p:nvPicPr>
          <p:cNvPr id="214" name="Google Shape;313;p27" descr="image.png"/>
          <p:cNvPicPr/>
          <p:nvPr/>
        </p:nvPicPr>
        <p:blipFill>
          <a:blip r:embed="rId1"/>
          <a:stretch/>
        </p:blipFill>
        <p:spPr>
          <a:xfrm>
            <a:off x="1333440" y="2295360"/>
            <a:ext cx="266400" cy="275760"/>
          </a:xfrm>
          <a:prstGeom prst="rect">
            <a:avLst/>
          </a:prstGeom>
          <a:ln w="0">
            <a:noFill/>
          </a:ln>
        </p:spPr>
      </p:pic>
      <p:pic>
        <p:nvPicPr>
          <p:cNvPr id="215" name="Google Shape;314;p27" descr="image.png"/>
          <p:cNvPicPr/>
          <p:nvPr/>
        </p:nvPicPr>
        <p:blipFill>
          <a:blip r:embed="rId2"/>
          <a:stretch/>
        </p:blipFill>
        <p:spPr>
          <a:xfrm>
            <a:off x="1333440" y="2828880"/>
            <a:ext cx="266400" cy="275760"/>
          </a:xfrm>
          <a:prstGeom prst="rect">
            <a:avLst/>
          </a:prstGeom>
          <a:ln w="0">
            <a:noFill/>
          </a:ln>
        </p:spPr>
      </p:pic>
      <p:pic>
        <p:nvPicPr>
          <p:cNvPr id="216" name="Google Shape;315;p27" descr="image.png"/>
          <p:cNvPicPr/>
          <p:nvPr/>
        </p:nvPicPr>
        <p:blipFill>
          <a:blip r:embed="rId3"/>
          <a:stretch/>
        </p:blipFill>
        <p:spPr>
          <a:xfrm>
            <a:off x="1333440" y="3362400"/>
            <a:ext cx="266400" cy="275760"/>
          </a:xfrm>
          <a:prstGeom prst="rect">
            <a:avLst/>
          </a:prstGeom>
          <a:ln w="0">
            <a:noFill/>
          </a:ln>
        </p:spPr>
      </p:pic>
      <p:pic>
        <p:nvPicPr>
          <p:cNvPr id="217" name="Google Shape;316;p27" descr="image.png"/>
          <p:cNvPicPr/>
          <p:nvPr/>
        </p:nvPicPr>
        <p:blipFill>
          <a:blip r:embed="rId4"/>
          <a:stretch/>
        </p:blipFill>
        <p:spPr>
          <a:xfrm>
            <a:off x="1333440" y="3895560"/>
            <a:ext cx="333000" cy="275760"/>
          </a:xfrm>
          <a:prstGeom prst="rect">
            <a:avLst/>
          </a:prstGeom>
          <a:ln w="0">
            <a:noFill/>
          </a:ln>
        </p:spPr>
      </p:pic>
      <p:pic>
        <p:nvPicPr>
          <p:cNvPr id="218" name="Google Shape;317;p27" descr="image.png"/>
          <p:cNvPicPr/>
          <p:nvPr/>
        </p:nvPicPr>
        <p:blipFill>
          <a:blip r:embed="rId5"/>
          <a:stretch/>
        </p:blipFill>
        <p:spPr>
          <a:xfrm>
            <a:off x="1333440" y="4429080"/>
            <a:ext cx="266400" cy="275760"/>
          </a:xfrm>
          <a:prstGeom prst="rect">
            <a:avLst/>
          </a:prstGeom>
          <a:ln w="0">
            <a:noFill/>
          </a:ln>
        </p:spPr>
      </p:pic>
      <p:pic>
        <p:nvPicPr>
          <p:cNvPr id="219" name="Google Shape;318;p27" descr="image.png"/>
          <p:cNvPicPr/>
          <p:nvPr/>
        </p:nvPicPr>
        <p:blipFill>
          <a:blip r:embed="rId6"/>
          <a:stretch/>
        </p:blipFill>
        <p:spPr>
          <a:xfrm>
            <a:off x="1333440" y="4962600"/>
            <a:ext cx="304560" cy="275760"/>
          </a:xfrm>
          <a:prstGeom prst="rect">
            <a:avLst/>
          </a:prstGeom>
          <a:ln w="0">
            <a:noFill/>
          </a:ln>
        </p:spPr>
      </p:pic>
      <p:sp>
        <p:nvSpPr>
          <p:cNvPr id="220" name="Google Shape;319;p27"/>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Applied Research Process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21" name="Google Shape;324;p28"/>
          <p:cNvSpPr/>
          <p:nvPr/>
        </p:nvSpPr>
        <p:spPr>
          <a:xfrm>
            <a:off x="571680" y="571680"/>
            <a:ext cx="555048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Agile Scrum Framework</a:t>
            </a:r>
            <a:endParaRPr b="0" lang="en-US" sz="3300" spc="-1" strike="noStrike">
              <a:solidFill>
                <a:srgbClr val="ffffff"/>
              </a:solidFill>
              <a:latin typeface="Arial"/>
            </a:endParaRPr>
          </a:p>
        </p:txBody>
      </p:sp>
      <p:pic>
        <p:nvPicPr>
          <p:cNvPr id="222" name="Google Shape;325;p28" descr="image.png"/>
          <p:cNvPicPr/>
          <p:nvPr/>
        </p:nvPicPr>
        <p:blipFill>
          <a:blip r:embed="rId1"/>
          <a:stretch/>
        </p:blipFill>
        <p:spPr>
          <a:xfrm>
            <a:off x="6334200" y="0"/>
            <a:ext cx="5857560" cy="6857640"/>
          </a:xfrm>
          <a:prstGeom prst="rect">
            <a:avLst/>
          </a:prstGeom>
          <a:ln w="0">
            <a:noFill/>
          </a:ln>
        </p:spPr>
      </p:pic>
      <p:sp>
        <p:nvSpPr>
          <p:cNvPr id="223" name="Google Shape;326;p28"/>
          <p:cNvSpPr/>
          <p:nvPr/>
        </p:nvSpPr>
        <p:spPr>
          <a:xfrm>
            <a:off x="571680" y="1566720"/>
            <a:ext cx="5550480" cy="3204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Iterative Excellence</a:t>
            </a:r>
            <a:endParaRPr b="0" lang="en-US" sz="2100" spc="-1" strike="noStrike">
              <a:solidFill>
                <a:srgbClr val="ffffff"/>
              </a:solidFill>
              <a:latin typeface="Arial"/>
            </a:endParaRPr>
          </a:p>
        </p:txBody>
      </p:sp>
      <p:sp>
        <p:nvSpPr>
          <p:cNvPr id="224" name="Google Shape;327;p28"/>
          <p:cNvSpPr/>
          <p:nvPr/>
        </p:nvSpPr>
        <p:spPr>
          <a:xfrm>
            <a:off x="571680" y="204300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Agile was selected because it supports iterative development, continuous feedback, and incremental delivery of components.</a:t>
            </a:r>
            <a:endParaRPr b="0" lang="en-US" sz="1500" spc="-1" strike="noStrike">
              <a:solidFill>
                <a:srgbClr val="ffffff"/>
              </a:solidFill>
              <a:latin typeface="Arial"/>
            </a:endParaRPr>
          </a:p>
        </p:txBody>
      </p:sp>
      <p:sp>
        <p:nvSpPr>
          <p:cNvPr id="225" name="Google Shape;328;p28"/>
          <p:cNvSpPr/>
          <p:nvPr/>
        </p:nvSpPr>
        <p:spPr>
          <a:xfrm>
            <a:off x="571680" y="311004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The Scrum methodology provided short, focused development cycles allowing the team to pivot and adapt to technical challenges efficiently.</a:t>
            </a:r>
            <a:endParaRPr b="0" lang="en-US" sz="1500" spc="-1" strike="noStrike">
              <a:solidFill>
                <a:srgbClr val="ffffff"/>
              </a:solidFill>
              <a:latin typeface="Arial"/>
            </a:endParaRPr>
          </a:p>
        </p:txBody>
      </p:sp>
      <p:sp>
        <p:nvSpPr>
          <p:cNvPr id="226" name="Google Shape;329;p28"/>
          <p:cNvSpPr/>
          <p:nvPr/>
        </p:nvSpPr>
        <p:spPr>
          <a:xfrm>
            <a:off x="704880" y="43671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227" name="Google Shape;330;p28"/>
          <p:cNvSpPr/>
          <p:nvPr/>
        </p:nvSpPr>
        <p:spPr>
          <a:xfrm>
            <a:off x="809640" y="4367160"/>
            <a:ext cx="50479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Incremental development cycles.</a:t>
            </a:r>
            <a:endParaRPr b="0" lang="en-US" sz="1500" spc="-1" strike="noStrike">
              <a:solidFill>
                <a:srgbClr val="ffffff"/>
              </a:solidFill>
              <a:latin typeface="Arial"/>
            </a:endParaRPr>
          </a:p>
        </p:txBody>
      </p:sp>
      <p:sp>
        <p:nvSpPr>
          <p:cNvPr id="228" name="Google Shape;331;p28"/>
          <p:cNvSpPr/>
          <p:nvPr/>
        </p:nvSpPr>
        <p:spPr>
          <a:xfrm>
            <a:off x="704880" y="48243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229" name="Google Shape;332;p28"/>
          <p:cNvSpPr/>
          <p:nvPr/>
        </p:nvSpPr>
        <p:spPr>
          <a:xfrm>
            <a:off x="809640" y="4824360"/>
            <a:ext cx="50479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Continuous stakeholder feedback.</a:t>
            </a:r>
            <a:endParaRPr b="0" lang="en-US" sz="1500" spc="-1" strike="noStrike">
              <a:solidFill>
                <a:srgbClr val="ffffff"/>
              </a:solidFill>
              <a:latin typeface="Arial"/>
            </a:endParaRPr>
          </a:p>
        </p:txBody>
      </p:sp>
      <p:sp>
        <p:nvSpPr>
          <p:cNvPr id="230" name="Google Shape;333;p28"/>
          <p:cNvSpPr/>
          <p:nvPr/>
        </p:nvSpPr>
        <p:spPr>
          <a:xfrm>
            <a:off x="704880" y="52815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231" name="Google Shape;334;p28"/>
          <p:cNvSpPr/>
          <p:nvPr/>
        </p:nvSpPr>
        <p:spPr>
          <a:xfrm>
            <a:off x="809640" y="5281560"/>
            <a:ext cx="50479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Regular sprint reviews and retrospectives.</a:t>
            </a:r>
            <a:endParaRPr b="0" lang="en-US" sz="1500" spc="-1" strike="noStrike">
              <a:solidFill>
                <a:srgbClr val="ffffff"/>
              </a:solidFill>
              <a:latin typeface="Arial"/>
            </a:endParaRPr>
          </a:p>
        </p:txBody>
      </p:sp>
      <p:sp>
        <p:nvSpPr>
          <p:cNvPr id="232" name="Google Shape;335;p28"/>
          <p:cNvSpPr/>
          <p:nvPr/>
        </p:nvSpPr>
        <p:spPr>
          <a:xfrm>
            <a:off x="704880" y="57387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233" name="Google Shape;336;p28"/>
          <p:cNvSpPr/>
          <p:nvPr/>
        </p:nvSpPr>
        <p:spPr>
          <a:xfrm>
            <a:off x="809640" y="5738760"/>
            <a:ext cx="504792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Effective risk management and transparency.</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34" name="Google Shape;341;p29"/>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35" name="Google Shape;342;p29"/>
          <p:cNvSpPr/>
          <p:nvPr/>
        </p:nvSpPr>
        <p:spPr>
          <a:xfrm>
            <a:off x="2890440" y="2877480"/>
            <a:ext cx="641052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04. Timeline &amp; Sprints</a:t>
            </a:r>
            <a:endParaRPr b="0" lang="en-US" sz="4800" spc="-1" strike="noStrike">
              <a:solidFill>
                <a:srgbClr val="ffffff"/>
              </a:solidFill>
              <a:latin typeface="Arial"/>
            </a:endParaRPr>
          </a:p>
        </p:txBody>
      </p:sp>
      <p:sp>
        <p:nvSpPr>
          <p:cNvPr id="236" name="Google Shape;343;p29"/>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A structured 12-week roadmap broken down into six distinct phases and manageable agile sprints.</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37" name="Google Shape;348;p30"/>
          <p:cNvSpPr/>
          <p:nvPr/>
        </p:nvSpPr>
        <p:spPr>
          <a:xfrm>
            <a:off x="571680" y="3862440"/>
            <a:ext cx="11048760" cy="37800"/>
          </a:xfrm>
          <a:prstGeom prst="rect">
            <a:avLst/>
          </a:prstGeom>
          <a:solidFill>
            <a:srgbClr val="334155"/>
          </a:solidFill>
          <a:ln w="0">
            <a:noFill/>
          </a:ln>
        </p:spPr>
        <p:style>
          <a:lnRef idx="0"/>
          <a:fillRef idx="0"/>
          <a:effectRef idx="0"/>
          <a:fontRef idx="minor"/>
        </p:style>
        <p:txBody>
          <a:bodyPr tIns="19080" bIns="190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38" name="Google Shape;349;p30"/>
          <p:cNvSpPr/>
          <p:nvPr/>
        </p:nvSpPr>
        <p:spPr>
          <a:xfrm>
            <a:off x="488520" y="4214880"/>
            <a:ext cx="3480120" cy="297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1950" spc="-1" strike="noStrike">
                <a:solidFill>
                  <a:srgbClr val="38bdf8"/>
                </a:solidFill>
                <a:latin typeface="Outfit SemiBold"/>
                <a:ea typeface="Outfit SemiBold"/>
              </a:rPr>
              <a:t>Phase 1: Planning</a:t>
            </a:r>
            <a:endParaRPr b="0" lang="en-US" sz="1950" spc="-1" strike="noStrike">
              <a:solidFill>
                <a:srgbClr val="ffffff"/>
              </a:solidFill>
              <a:latin typeface="Arial"/>
            </a:endParaRPr>
          </a:p>
        </p:txBody>
      </p:sp>
      <p:sp>
        <p:nvSpPr>
          <p:cNvPr id="239" name="Google Shape;350;p30"/>
          <p:cNvSpPr/>
          <p:nvPr/>
        </p:nvSpPr>
        <p:spPr>
          <a:xfrm>
            <a:off x="571680" y="4681440"/>
            <a:ext cx="331452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Problem identification, literature review, requirements gathering, and initial project proposals.</a:t>
            </a:r>
            <a:endParaRPr b="0" lang="en-US" sz="1500" spc="-1" strike="noStrike">
              <a:solidFill>
                <a:srgbClr val="ffffff"/>
              </a:solidFill>
              <a:latin typeface="Arial"/>
            </a:endParaRPr>
          </a:p>
        </p:txBody>
      </p:sp>
      <p:sp>
        <p:nvSpPr>
          <p:cNvPr id="240" name="Google Shape;351;p30"/>
          <p:cNvSpPr/>
          <p:nvPr/>
        </p:nvSpPr>
        <p:spPr>
          <a:xfrm>
            <a:off x="4355640" y="2014560"/>
            <a:ext cx="3480120" cy="297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1950" spc="-1" strike="noStrike">
                <a:solidFill>
                  <a:srgbClr val="38bdf8"/>
                </a:solidFill>
                <a:latin typeface="Outfit SemiBold"/>
                <a:ea typeface="Outfit SemiBold"/>
              </a:rPr>
              <a:t>Phase 2: Collection</a:t>
            </a:r>
            <a:endParaRPr b="0" lang="en-US" sz="1950" spc="-1" strike="noStrike">
              <a:solidFill>
                <a:srgbClr val="ffffff"/>
              </a:solidFill>
              <a:latin typeface="Arial"/>
            </a:endParaRPr>
          </a:p>
        </p:txBody>
      </p:sp>
      <p:sp>
        <p:nvSpPr>
          <p:cNvPr id="241" name="Google Shape;352;p30"/>
          <p:cNvSpPr/>
          <p:nvPr/>
        </p:nvSpPr>
        <p:spPr>
          <a:xfrm>
            <a:off x="4438800" y="2481120"/>
            <a:ext cx="331452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UV lamp setup, volunteer coordination, recording of videos, and frame extraction.</a:t>
            </a:r>
            <a:endParaRPr b="0" lang="en-US" sz="1500" spc="-1" strike="noStrike">
              <a:solidFill>
                <a:srgbClr val="ffffff"/>
              </a:solidFill>
              <a:latin typeface="Arial"/>
            </a:endParaRPr>
          </a:p>
        </p:txBody>
      </p:sp>
      <p:sp>
        <p:nvSpPr>
          <p:cNvPr id="242" name="Google Shape;353;p30"/>
          <p:cNvSpPr/>
          <p:nvPr/>
        </p:nvSpPr>
        <p:spPr>
          <a:xfrm>
            <a:off x="8222760" y="4214880"/>
            <a:ext cx="3480120" cy="297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1950" spc="-1" strike="noStrike">
                <a:solidFill>
                  <a:srgbClr val="38bdf8"/>
                </a:solidFill>
                <a:latin typeface="Outfit SemiBold"/>
                <a:ea typeface="Outfit SemiBold"/>
              </a:rPr>
              <a:t>Phase 3: Annotation</a:t>
            </a:r>
            <a:endParaRPr b="0" lang="en-US" sz="1950" spc="-1" strike="noStrike">
              <a:solidFill>
                <a:srgbClr val="ffffff"/>
              </a:solidFill>
              <a:latin typeface="Arial"/>
            </a:endParaRPr>
          </a:p>
        </p:txBody>
      </p:sp>
      <p:sp>
        <p:nvSpPr>
          <p:cNvPr id="243" name="Google Shape;354;p30"/>
          <p:cNvSpPr/>
          <p:nvPr/>
        </p:nvSpPr>
        <p:spPr>
          <a:xfrm>
            <a:off x="8305920" y="4681440"/>
            <a:ext cx="331452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Manual labelling, Roboflow auto-label training, verification, and data augmentation.</a:t>
            </a:r>
            <a:endParaRPr b="0" lang="en-US" sz="1500" spc="-1" strike="noStrike">
              <a:solidFill>
                <a:srgbClr val="ffffff"/>
              </a:solidFill>
              <a:latin typeface="Arial"/>
            </a:endParaRPr>
          </a:p>
        </p:txBody>
      </p:sp>
      <p:sp>
        <p:nvSpPr>
          <p:cNvPr id="244" name="Google Shape;355;p30"/>
          <p:cNvSpPr/>
          <p:nvPr/>
        </p:nvSpPr>
        <p:spPr>
          <a:xfrm>
            <a:off x="2104920" y="3757680"/>
            <a:ext cx="247320" cy="247320"/>
          </a:xfrm>
          <a:prstGeom prst="roundRect">
            <a:avLst>
              <a:gd name="adj" fmla="val 50000"/>
            </a:avLst>
          </a:prstGeom>
          <a:solidFill>
            <a:srgbClr val="0f172a"/>
          </a:solidFill>
          <a:ln w="47625">
            <a:solidFill>
              <a:srgbClr val="38bdf8"/>
            </a:solidFill>
            <a:round/>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45" name="Google Shape;356;p30"/>
          <p:cNvSpPr/>
          <p:nvPr/>
        </p:nvSpPr>
        <p:spPr>
          <a:xfrm>
            <a:off x="5972040" y="3757680"/>
            <a:ext cx="247320" cy="247320"/>
          </a:xfrm>
          <a:prstGeom prst="roundRect">
            <a:avLst>
              <a:gd name="adj" fmla="val 50000"/>
            </a:avLst>
          </a:prstGeom>
          <a:solidFill>
            <a:srgbClr val="0f172a"/>
          </a:solidFill>
          <a:ln w="47625">
            <a:solidFill>
              <a:srgbClr val="38bdf8"/>
            </a:solidFill>
            <a:round/>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46" name="Google Shape;357;p30"/>
          <p:cNvSpPr/>
          <p:nvPr/>
        </p:nvSpPr>
        <p:spPr>
          <a:xfrm>
            <a:off x="9839160" y="3757680"/>
            <a:ext cx="247320" cy="247320"/>
          </a:xfrm>
          <a:prstGeom prst="roundRect">
            <a:avLst>
              <a:gd name="adj" fmla="val 50000"/>
            </a:avLst>
          </a:prstGeom>
          <a:solidFill>
            <a:srgbClr val="0f172a"/>
          </a:solidFill>
          <a:ln w="47625">
            <a:solidFill>
              <a:srgbClr val="38bdf8"/>
            </a:solidFill>
            <a:round/>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47" name="Google Shape;358;p30"/>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Development Phases (1 - 3)</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48" name="Google Shape;363;p31"/>
          <p:cNvSpPr/>
          <p:nvPr/>
        </p:nvSpPr>
        <p:spPr>
          <a:xfrm>
            <a:off x="571680" y="3862440"/>
            <a:ext cx="11048760" cy="37800"/>
          </a:xfrm>
          <a:prstGeom prst="rect">
            <a:avLst/>
          </a:prstGeom>
          <a:solidFill>
            <a:srgbClr val="334155"/>
          </a:solidFill>
          <a:ln w="0">
            <a:noFill/>
          </a:ln>
        </p:spPr>
        <p:style>
          <a:lnRef idx="0"/>
          <a:fillRef idx="0"/>
          <a:effectRef idx="0"/>
          <a:fontRef idx="minor"/>
        </p:style>
        <p:txBody>
          <a:bodyPr tIns="19080" bIns="190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49" name="Google Shape;364;p31"/>
          <p:cNvSpPr/>
          <p:nvPr/>
        </p:nvSpPr>
        <p:spPr>
          <a:xfrm>
            <a:off x="488520" y="4214880"/>
            <a:ext cx="3480120" cy="297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1950" spc="-1" strike="noStrike">
                <a:solidFill>
                  <a:srgbClr val="38bdf8"/>
                </a:solidFill>
                <a:latin typeface="Outfit SemiBold"/>
                <a:ea typeface="Outfit SemiBold"/>
              </a:rPr>
              <a:t>Phase 4: AI Model</a:t>
            </a:r>
            <a:endParaRPr b="0" lang="en-US" sz="1950" spc="-1" strike="noStrike">
              <a:solidFill>
                <a:srgbClr val="ffffff"/>
              </a:solidFill>
              <a:latin typeface="Arial"/>
            </a:endParaRPr>
          </a:p>
        </p:txBody>
      </p:sp>
      <p:sp>
        <p:nvSpPr>
          <p:cNvPr id="250" name="Google Shape;365;p31"/>
          <p:cNvSpPr/>
          <p:nvPr/>
        </p:nvSpPr>
        <p:spPr>
          <a:xfrm>
            <a:off x="571680" y="4681440"/>
            <a:ext cx="3314520" cy="73188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YOLOv8 configuration, model training, hyperparameter tuning, and validation.</a:t>
            </a:r>
            <a:endParaRPr b="0" lang="en-US" sz="1500" spc="-1" strike="noStrike">
              <a:solidFill>
                <a:srgbClr val="ffffff"/>
              </a:solidFill>
              <a:latin typeface="Arial"/>
            </a:endParaRPr>
          </a:p>
        </p:txBody>
      </p:sp>
      <p:sp>
        <p:nvSpPr>
          <p:cNvPr id="251" name="Google Shape;366;p31"/>
          <p:cNvSpPr/>
          <p:nvPr/>
        </p:nvSpPr>
        <p:spPr>
          <a:xfrm>
            <a:off x="4355640" y="2014560"/>
            <a:ext cx="3480120" cy="297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1950" spc="-1" strike="noStrike">
                <a:solidFill>
                  <a:srgbClr val="38bdf8"/>
                </a:solidFill>
                <a:latin typeface="Outfit SemiBold"/>
                <a:ea typeface="Outfit SemiBold"/>
              </a:rPr>
              <a:t>Phase 5: Application</a:t>
            </a:r>
            <a:endParaRPr b="0" lang="en-US" sz="1950" spc="-1" strike="noStrike">
              <a:solidFill>
                <a:srgbClr val="ffffff"/>
              </a:solidFill>
              <a:latin typeface="Arial"/>
            </a:endParaRPr>
          </a:p>
        </p:txBody>
      </p:sp>
      <p:sp>
        <p:nvSpPr>
          <p:cNvPr id="252" name="Google Shape;367;p31"/>
          <p:cNvSpPr/>
          <p:nvPr/>
        </p:nvSpPr>
        <p:spPr>
          <a:xfrm>
            <a:off x="4438800" y="2481120"/>
            <a:ext cx="331452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Streamlit interface development, user interaction design, and model pipeline integration.</a:t>
            </a:r>
            <a:endParaRPr b="0" lang="en-US" sz="1500" spc="-1" strike="noStrike">
              <a:solidFill>
                <a:srgbClr val="ffffff"/>
              </a:solidFill>
              <a:latin typeface="Arial"/>
            </a:endParaRPr>
          </a:p>
        </p:txBody>
      </p:sp>
      <p:sp>
        <p:nvSpPr>
          <p:cNvPr id="253" name="Google Shape;368;p31"/>
          <p:cNvSpPr/>
          <p:nvPr/>
        </p:nvSpPr>
        <p:spPr>
          <a:xfrm>
            <a:off x="8222760" y="4214880"/>
            <a:ext cx="3480120" cy="297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1950" spc="-1" strike="noStrike">
                <a:solidFill>
                  <a:srgbClr val="38bdf8"/>
                </a:solidFill>
                <a:latin typeface="Outfit SemiBold"/>
                <a:ea typeface="Outfit SemiBold"/>
              </a:rPr>
              <a:t>Phase 6: Testing</a:t>
            </a:r>
            <a:endParaRPr b="0" lang="en-US" sz="1950" spc="-1" strike="noStrike">
              <a:solidFill>
                <a:srgbClr val="ffffff"/>
              </a:solidFill>
              <a:latin typeface="Arial"/>
            </a:endParaRPr>
          </a:p>
        </p:txBody>
      </p:sp>
      <p:sp>
        <p:nvSpPr>
          <p:cNvPr id="254" name="Google Shape;369;p31"/>
          <p:cNvSpPr/>
          <p:nvPr/>
        </p:nvSpPr>
        <p:spPr>
          <a:xfrm>
            <a:off x="8305920" y="4681440"/>
            <a:ext cx="331452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System testing, validation testing, preparation of final reports, and live demonstrations.</a:t>
            </a:r>
            <a:endParaRPr b="0" lang="en-US" sz="1500" spc="-1" strike="noStrike">
              <a:solidFill>
                <a:srgbClr val="ffffff"/>
              </a:solidFill>
              <a:latin typeface="Arial"/>
            </a:endParaRPr>
          </a:p>
        </p:txBody>
      </p:sp>
      <p:sp>
        <p:nvSpPr>
          <p:cNvPr id="255" name="Google Shape;370;p31"/>
          <p:cNvSpPr/>
          <p:nvPr/>
        </p:nvSpPr>
        <p:spPr>
          <a:xfrm>
            <a:off x="2104920" y="3757680"/>
            <a:ext cx="247320" cy="247320"/>
          </a:xfrm>
          <a:prstGeom prst="roundRect">
            <a:avLst>
              <a:gd name="adj" fmla="val 50000"/>
            </a:avLst>
          </a:prstGeom>
          <a:solidFill>
            <a:srgbClr val="0f172a"/>
          </a:solidFill>
          <a:ln w="47625">
            <a:solidFill>
              <a:srgbClr val="38bdf8"/>
            </a:solidFill>
            <a:round/>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56" name="Google Shape;371;p31"/>
          <p:cNvSpPr/>
          <p:nvPr/>
        </p:nvSpPr>
        <p:spPr>
          <a:xfrm>
            <a:off x="5972040" y="3757680"/>
            <a:ext cx="247320" cy="247320"/>
          </a:xfrm>
          <a:prstGeom prst="roundRect">
            <a:avLst>
              <a:gd name="adj" fmla="val 50000"/>
            </a:avLst>
          </a:prstGeom>
          <a:solidFill>
            <a:srgbClr val="0f172a"/>
          </a:solidFill>
          <a:ln w="47625">
            <a:solidFill>
              <a:srgbClr val="38bdf8"/>
            </a:solidFill>
            <a:round/>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57" name="Google Shape;372;p31"/>
          <p:cNvSpPr/>
          <p:nvPr/>
        </p:nvSpPr>
        <p:spPr>
          <a:xfrm>
            <a:off x="9839160" y="3757680"/>
            <a:ext cx="247320" cy="247320"/>
          </a:xfrm>
          <a:prstGeom prst="roundRect">
            <a:avLst>
              <a:gd name="adj" fmla="val 50000"/>
            </a:avLst>
          </a:prstGeom>
          <a:solidFill>
            <a:srgbClr val="0f172a"/>
          </a:solidFill>
          <a:ln w="47625">
            <a:solidFill>
              <a:srgbClr val="38bdf8"/>
            </a:solidFill>
            <a:round/>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58" name="Google Shape;373;p31"/>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Development Phases (4 - 6)</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259" name="Google Shape;378;p32" descr="image.png"/>
          <p:cNvPicPr/>
          <p:nvPr/>
        </p:nvPicPr>
        <p:blipFill>
          <a:blip r:embed="rId1"/>
          <a:stretch/>
        </p:blipFill>
        <p:spPr>
          <a:xfrm>
            <a:off x="571680" y="1995480"/>
            <a:ext cx="3428640" cy="3771720"/>
          </a:xfrm>
          <a:prstGeom prst="rect">
            <a:avLst/>
          </a:prstGeom>
          <a:ln w="0">
            <a:noFill/>
          </a:ln>
        </p:spPr>
      </p:pic>
      <p:pic>
        <p:nvPicPr>
          <p:cNvPr id="260" name="Google Shape;379;p32" descr="image.png"/>
          <p:cNvPicPr/>
          <p:nvPr/>
        </p:nvPicPr>
        <p:blipFill>
          <a:blip r:embed="rId2"/>
          <a:stretch/>
        </p:blipFill>
        <p:spPr>
          <a:xfrm>
            <a:off x="4381560" y="1995480"/>
            <a:ext cx="3428640" cy="3771720"/>
          </a:xfrm>
          <a:prstGeom prst="rect">
            <a:avLst/>
          </a:prstGeom>
          <a:ln w="0">
            <a:noFill/>
          </a:ln>
        </p:spPr>
      </p:pic>
      <p:pic>
        <p:nvPicPr>
          <p:cNvPr id="261" name="Google Shape;380;p32" descr="image.png"/>
          <p:cNvPicPr/>
          <p:nvPr/>
        </p:nvPicPr>
        <p:blipFill>
          <a:blip r:embed="rId3"/>
          <a:stretch/>
        </p:blipFill>
        <p:spPr>
          <a:xfrm>
            <a:off x="8191440" y="1995480"/>
            <a:ext cx="3428640" cy="3771720"/>
          </a:xfrm>
          <a:prstGeom prst="rect">
            <a:avLst/>
          </a:prstGeom>
          <a:ln w="0">
            <a:noFill/>
          </a:ln>
        </p:spPr>
      </p:pic>
      <p:sp>
        <p:nvSpPr>
          <p:cNvPr id="262" name="Google Shape;381;p32"/>
          <p:cNvSpPr/>
          <p:nvPr/>
        </p:nvSpPr>
        <p:spPr>
          <a:xfrm>
            <a:off x="1285920" y="3166920"/>
            <a:ext cx="199980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Sprint 1 (Wk 1-2)</a:t>
            </a:r>
            <a:endParaRPr b="0" lang="en-US" sz="2100" spc="-1" strike="noStrike">
              <a:solidFill>
                <a:srgbClr val="ffffff"/>
              </a:solidFill>
              <a:latin typeface="Arial"/>
            </a:endParaRPr>
          </a:p>
        </p:txBody>
      </p:sp>
      <p:sp>
        <p:nvSpPr>
          <p:cNvPr id="263" name="Google Shape;382;p32"/>
          <p:cNvSpPr/>
          <p:nvPr/>
        </p:nvSpPr>
        <p:spPr>
          <a:xfrm>
            <a:off x="1352520" y="3652920"/>
            <a:ext cx="186660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38bdf8"/>
                </a:solidFill>
                <a:latin typeface="Inter SemiBold"/>
                <a:ea typeface="Inter SemiBold"/>
              </a:rPr>
              <a:t>Initiation &amp; Research</a:t>
            </a:r>
            <a:endParaRPr b="0" lang="en-US" sz="1500" spc="-1" strike="noStrike">
              <a:solidFill>
                <a:srgbClr val="ffffff"/>
              </a:solidFill>
              <a:latin typeface="Arial"/>
            </a:endParaRPr>
          </a:p>
        </p:txBody>
      </p:sp>
      <p:sp>
        <p:nvSpPr>
          <p:cNvPr id="264" name="Google Shape;383;p32"/>
          <p:cNvSpPr/>
          <p:nvPr/>
        </p:nvSpPr>
        <p:spPr>
          <a:xfrm>
            <a:off x="866880" y="4052880"/>
            <a:ext cx="2838240" cy="10976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Defined project scope, identified stakeholders, and completed the literature review.</a:t>
            </a:r>
            <a:endParaRPr b="0" lang="en-US" sz="1500" spc="-1" strike="noStrike">
              <a:solidFill>
                <a:srgbClr val="ffffff"/>
              </a:solidFill>
              <a:latin typeface="Arial"/>
            </a:endParaRPr>
          </a:p>
        </p:txBody>
      </p:sp>
      <p:sp>
        <p:nvSpPr>
          <p:cNvPr id="265" name="Google Shape;384;p32"/>
          <p:cNvSpPr/>
          <p:nvPr/>
        </p:nvSpPr>
        <p:spPr>
          <a:xfrm>
            <a:off x="5031000" y="3166920"/>
            <a:ext cx="212976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Sprint 2 (Wk 3-4)</a:t>
            </a:r>
            <a:endParaRPr b="0" lang="en-US" sz="2100" spc="-1" strike="noStrike">
              <a:solidFill>
                <a:srgbClr val="ffffff"/>
              </a:solidFill>
              <a:latin typeface="Arial"/>
            </a:endParaRPr>
          </a:p>
        </p:txBody>
      </p:sp>
      <p:sp>
        <p:nvSpPr>
          <p:cNvPr id="266" name="Google Shape;385;p32"/>
          <p:cNvSpPr/>
          <p:nvPr/>
        </p:nvSpPr>
        <p:spPr>
          <a:xfrm>
            <a:off x="5334120" y="3652920"/>
            <a:ext cx="152352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38bdf8"/>
                </a:solidFill>
                <a:latin typeface="Inter SemiBold"/>
                <a:ea typeface="Inter SemiBold"/>
              </a:rPr>
              <a:t>Dataset Creation</a:t>
            </a:r>
            <a:endParaRPr b="0" lang="en-US" sz="1500" spc="-1" strike="noStrike">
              <a:solidFill>
                <a:srgbClr val="ffffff"/>
              </a:solidFill>
              <a:latin typeface="Arial"/>
            </a:endParaRPr>
          </a:p>
        </p:txBody>
      </p:sp>
      <p:sp>
        <p:nvSpPr>
          <p:cNvPr id="267" name="Google Shape;386;p32"/>
          <p:cNvSpPr/>
          <p:nvPr/>
        </p:nvSpPr>
        <p:spPr>
          <a:xfrm>
            <a:off x="4676760" y="4052880"/>
            <a:ext cx="2838240" cy="10976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Recorded UV hand videos, extracted hundreds of image frames, and organized raw data.</a:t>
            </a:r>
            <a:endParaRPr b="0" lang="en-US" sz="1500" spc="-1" strike="noStrike">
              <a:solidFill>
                <a:srgbClr val="ffffff"/>
              </a:solidFill>
              <a:latin typeface="Arial"/>
            </a:endParaRPr>
          </a:p>
        </p:txBody>
      </p:sp>
      <p:sp>
        <p:nvSpPr>
          <p:cNvPr id="268" name="Google Shape;387;p32"/>
          <p:cNvSpPr/>
          <p:nvPr/>
        </p:nvSpPr>
        <p:spPr>
          <a:xfrm>
            <a:off x="8845920" y="3166920"/>
            <a:ext cx="212004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Sprint 3 (Wk 5-6)</a:t>
            </a:r>
            <a:endParaRPr b="0" lang="en-US" sz="2100" spc="-1" strike="noStrike">
              <a:solidFill>
                <a:srgbClr val="ffffff"/>
              </a:solidFill>
              <a:latin typeface="Arial"/>
            </a:endParaRPr>
          </a:p>
        </p:txBody>
      </p:sp>
      <p:sp>
        <p:nvSpPr>
          <p:cNvPr id="269" name="Google Shape;388;p32"/>
          <p:cNvSpPr/>
          <p:nvPr/>
        </p:nvSpPr>
        <p:spPr>
          <a:xfrm>
            <a:off x="9177480" y="3652920"/>
            <a:ext cx="145692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38bdf8"/>
                </a:solidFill>
                <a:latin typeface="Inter SemiBold"/>
                <a:ea typeface="Inter SemiBold"/>
              </a:rPr>
              <a:t>Data Annotation</a:t>
            </a:r>
            <a:endParaRPr b="0" lang="en-US" sz="1500" spc="-1" strike="noStrike">
              <a:solidFill>
                <a:srgbClr val="ffffff"/>
              </a:solidFill>
              <a:latin typeface="Arial"/>
            </a:endParaRPr>
          </a:p>
        </p:txBody>
      </p:sp>
      <p:sp>
        <p:nvSpPr>
          <p:cNvPr id="270" name="Google Shape;389;p32"/>
          <p:cNvSpPr/>
          <p:nvPr/>
        </p:nvSpPr>
        <p:spPr>
          <a:xfrm>
            <a:off x="8486640" y="4052880"/>
            <a:ext cx="2838240" cy="10976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Annotated initial images manually, trained auto-label model, and finalized the dataset.</a:t>
            </a:r>
            <a:endParaRPr b="0" lang="en-US" sz="1500" spc="-1" strike="noStrike">
              <a:solidFill>
                <a:srgbClr val="ffffff"/>
              </a:solidFill>
              <a:latin typeface="Arial"/>
            </a:endParaRPr>
          </a:p>
        </p:txBody>
      </p:sp>
      <p:pic>
        <p:nvPicPr>
          <p:cNvPr id="271" name="Google Shape;390;p32" descr="image.png"/>
          <p:cNvPicPr/>
          <p:nvPr/>
        </p:nvPicPr>
        <p:blipFill>
          <a:blip r:embed="rId4"/>
          <a:stretch/>
        </p:blipFill>
        <p:spPr>
          <a:xfrm>
            <a:off x="2066760" y="2386080"/>
            <a:ext cx="437760" cy="495000"/>
          </a:xfrm>
          <a:prstGeom prst="rect">
            <a:avLst/>
          </a:prstGeom>
          <a:ln w="0">
            <a:noFill/>
          </a:ln>
        </p:spPr>
      </p:pic>
      <p:pic>
        <p:nvPicPr>
          <p:cNvPr id="272" name="Google Shape;391;p32" descr="image.png"/>
          <p:cNvPicPr/>
          <p:nvPr/>
        </p:nvPicPr>
        <p:blipFill>
          <a:blip r:embed="rId5"/>
          <a:stretch/>
        </p:blipFill>
        <p:spPr>
          <a:xfrm>
            <a:off x="5815080" y="2386080"/>
            <a:ext cx="561600" cy="495000"/>
          </a:xfrm>
          <a:prstGeom prst="rect">
            <a:avLst/>
          </a:prstGeom>
          <a:ln w="0">
            <a:noFill/>
          </a:ln>
        </p:spPr>
      </p:pic>
      <p:pic>
        <p:nvPicPr>
          <p:cNvPr id="273" name="Google Shape;392;p32" descr="image.png"/>
          <p:cNvPicPr/>
          <p:nvPr/>
        </p:nvPicPr>
        <p:blipFill>
          <a:blip r:embed="rId6"/>
          <a:stretch/>
        </p:blipFill>
        <p:spPr>
          <a:xfrm>
            <a:off x="9658440" y="2386080"/>
            <a:ext cx="495000" cy="495000"/>
          </a:xfrm>
          <a:prstGeom prst="rect">
            <a:avLst/>
          </a:prstGeom>
          <a:ln w="0">
            <a:noFill/>
          </a:ln>
        </p:spPr>
      </p:pic>
      <p:sp>
        <p:nvSpPr>
          <p:cNvPr id="274" name="Google Shape;393;p32"/>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Sprints 1 to 3 Breakdown</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275" name="Google Shape;398;p33" descr="image.png"/>
          <p:cNvPicPr/>
          <p:nvPr/>
        </p:nvPicPr>
        <p:blipFill>
          <a:blip r:embed="rId1"/>
          <a:stretch/>
        </p:blipFill>
        <p:spPr>
          <a:xfrm>
            <a:off x="571680" y="1995480"/>
            <a:ext cx="3428640" cy="3771720"/>
          </a:xfrm>
          <a:prstGeom prst="rect">
            <a:avLst/>
          </a:prstGeom>
          <a:ln w="0">
            <a:noFill/>
          </a:ln>
        </p:spPr>
      </p:pic>
      <p:pic>
        <p:nvPicPr>
          <p:cNvPr id="276" name="Google Shape;399;p33" descr="image.png"/>
          <p:cNvPicPr/>
          <p:nvPr/>
        </p:nvPicPr>
        <p:blipFill>
          <a:blip r:embed="rId2"/>
          <a:stretch/>
        </p:blipFill>
        <p:spPr>
          <a:xfrm>
            <a:off x="4381560" y="1995480"/>
            <a:ext cx="3428640" cy="3771720"/>
          </a:xfrm>
          <a:prstGeom prst="rect">
            <a:avLst/>
          </a:prstGeom>
          <a:ln w="0">
            <a:noFill/>
          </a:ln>
        </p:spPr>
      </p:pic>
      <p:pic>
        <p:nvPicPr>
          <p:cNvPr id="277" name="Google Shape;400;p33" descr="image.png"/>
          <p:cNvPicPr/>
          <p:nvPr/>
        </p:nvPicPr>
        <p:blipFill>
          <a:blip r:embed="rId3"/>
          <a:stretch/>
        </p:blipFill>
        <p:spPr>
          <a:xfrm>
            <a:off x="8191440" y="1995480"/>
            <a:ext cx="3428640" cy="3771720"/>
          </a:xfrm>
          <a:prstGeom prst="rect">
            <a:avLst/>
          </a:prstGeom>
          <a:ln w="0">
            <a:noFill/>
          </a:ln>
        </p:spPr>
      </p:pic>
      <p:sp>
        <p:nvSpPr>
          <p:cNvPr id="278" name="Google Shape;401;p33"/>
          <p:cNvSpPr/>
          <p:nvPr/>
        </p:nvSpPr>
        <p:spPr>
          <a:xfrm>
            <a:off x="1220760" y="3166920"/>
            <a:ext cx="212976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Sprint 4 (Wk 7-8)</a:t>
            </a:r>
            <a:endParaRPr b="0" lang="en-US" sz="2100" spc="-1" strike="noStrike">
              <a:solidFill>
                <a:srgbClr val="ffffff"/>
              </a:solidFill>
              <a:latin typeface="Arial"/>
            </a:endParaRPr>
          </a:p>
        </p:txBody>
      </p:sp>
      <p:sp>
        <p:nvSpPr>
          <p:cNvPr id="279" name="Google Shape;402;p33"/>
          <p:cNvSpPr/>
          <p:nvPr/>
        </p:nvSpPr>
        <p:spPr>
          <a:xfrm>
            <a:off x="1371600" y="3652920"/>
            <a:ext cx="182844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38bdf8"/>
                </a:solidFill>
                <a:latin typeface="Inter SemiBold"/>
                <a:ea typeface="Inter SemiBold"/>
              </a:rPr>
              <a:t>Model Development</a:t>
            </a:r>
            <a:endParaRPr b="0" lang="en-US" sz="1500" spc="-1" strike="noStrike">
              <a:solidFill>
                <a:srgbClr val="ffffff"/>
              </a:solidFill>
              <a:latin typeface="Arial"/>
            </a:endParaRPr>
          </a:p>
        </p:txBody>
      </p:sp>
      <p:sp>
        <p:nvSpPr>
          <p:cNvPr id="280" name="Google Shape;403;p33"/>
          <p:cNvSpPr/>
          <p:nvPr/>
        </p:nvSpPr>
        <p:spPr>
          <a:xfrm>
            <a:off x="866880" y="4052880"/>
            <a:ext cx="283824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Configured YOLOv8, trained object detection model, and optimized parameters.</a:t>
            </a:r>
            <a:endParaRPr b="0" lang="en-US" sz="1500" spc="-1" strike="noStrike">
              <a:solidFill>
                <a:srgbClr val="ffffff"/>
              </a:solidFill>
              <a:latin typeface="Arial"/>
            </a:endParaRPr>
          </a:p>
        </p:txBody>
      </p:sp>
      <p:sp>
        <p:nvSpPr>
          <p:cNvPr id="281" name="Google Shape;404;p33"/>
          <p:cNvSpPr/>
          <p:nvPr/>
        </p:nvSpPr>
        <p:spPr>
          <a:xfrm>
            <a:off x="4975920" y="3166920"/>
            <a:ext cx="223992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Sprint 5 (Wk 9-10)</a:t>
            </a:r>
            <a:endParaRPr b="0" lang="en-US" sz="2100" spc="-1" strike="noStrike">
              <a:solidFill>
                <a:srgbClr val="ffffff"/>
              </a:solidFill>
              <a:latin typeface="Arial"/>
            </a:endParaRPr>
          </a:p>
        </p:txBody>
      </p:sp>
      <p:sp>
        <p:nvSpPr>
          <p:cNvPr id="282" name="Google Shape;405;p33"/>
          <p:cNvSpPr/>
          <p:nvPr/>
        </p:nvSpPr>
        <p:spPr>
          <a:xfrm>
            <a:off x="5276880" y="3652920"/>
            <a:ext cx="163800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38bdf8"/>
                </a:solidFill>
                <a:latin typeface="Inter SemiBold"/>
                <a:ea typeface="Inter SemiBold"/>
              </a:rPr>
              <a:t>App Development</a:t>
            </a:r>
            <a:endParaRPr b="0" lang="en-US" sz="1500" spc="-1" strike="noStrike">
              <a:solidFill>
                <a:srgbClr val="ffffff"/>
              </a:solidFill>
              <a:latin typeface="Arial"/>
            </a:endParaRPr>
          </a:p>
        </p:txBody>
      </p:sp>
      <p:sp>
        <p:nvSpPr>
          <p:cNvPr id="283" name="Google Shape;406;p33"/>
          <p:cNvSpPr/>
          <p:nvPr/>
        </p:nvSpPr>
        <p:spPr>
          <a:xfrm>
            <a:off x="4676760" y="4052880"/>
            <a:ext cx="2838240" cy="10969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Built the Streamlit interface, integrated the trained model, and implemented workflows.</a:t>
            </a:r>
            <a:endParaRPr b="0" lang="en-US" sz="1500" spc="-1" strike="noStrike">
              <a:solidFill>
                <a:srgbClr val="ffffff"/>
              </a:solidFill>
              <a:latin typeface="Arial"/>
            </a:endParaRPr>
          </a:p>
        </p:txBody>
      </p:sp>
      <p:sp>
        <p:nvSpPr>
          <p:cNvPr id="284" name="Google Shape;407;p33"/>
          <p:cNvSpPr/>
          <p:nvPr/>
        </p:nvSpPr>
        <p:spPr>
          <a:xfrm>
            <a:off x="8775720" y="3166920"/>
            <a:ext cx="226008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Sprint 6 (Wk 11-12)</a:t>
            </a:r>
            <a:endParaRPr b="0" lang="en-US" sz="2100" spc="-1" strike="noStrike">
              <a:solidFill>
                <a:srgbClr val="ffffff"/>
              </a:solidFill>
              <a:latin typeface="Arial"/>
            </a:endParaRPr>
          </a:p>
        </p:txBody>
      </p:sp>
      <p:sp>
        <p:nvSpPr>
          <p:cNvPr id="285" name="Google Shape;408;p33"/>
          <p:cNvSpPr/>
          <p:nvPr/>
        </p:nvSpPr>
        <p:spPr>
          <a:xfrm>
            <a:off x="9139320" y="3652920"/>
            <a:ext cx="153324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38bdf8"/>
                </a:solidFill>
                <a:latin typeface="Inter SemiBold"/>
                <a:ea typeface="Inter SemiBold"/>
              </a:rPr>
              <a:t>Testing &amp; Deploy</a:t>
            </a:r>
            <a:endParaRPr b="0" lang="en-US" sz="1500" spc="-1" strike="noStrike">
              <a:solidFill>
                <a:srgbClr val="ffffff"/>
              </a:solidFill>
              <a:latin typeface="Arial"/>
            </a:endParaRPr>
          </a:p>
        </p:txBody>
      </p:sp>
      <p:sp>
        <p:nvSpPr>
          <p:cNvPr id="286" name="Google Shape;409;p33"/>
          <p:cNvSpPr/>
          <p:nvPr/>
        </p:nvSpPr>
        <p:spPr>
          <a:xfrm>
            <a:off x="8486640" y="4052880"/>
            <a:ext cx="2838240" cy="10976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Performed rigorous validation testing, prepared documentation, and finalized demo.</a:t>
            </a:r>
            <a:endParaRPr b="0" lang="en-US" sz="1500" spc="-1" strike="noStrike">
              <a:solidFill>
                <a:srgbClr val="ffffff"/>
              </a:solidFill>
              <a:latin typeface="Arial"/>
            </a:endParaRPr>
          </a:p>
        </p:txBody>
      </p:sp>
      <p:pic>
        <p:nvPicPr>
          <p:cNvPr id="287" name="Google Shape;410;p33" descr="image.png"/>
          <p:cNvPicPr/>
          <p:nvPr/>
        </p:nvPicPr>
        <p:blipFill>
          <a:blip r:embed="rId4"/>
          <a:stretch/>
        </p:blipFill>
        <p:spPr>
          <a:xfrm>
            <a:off x="2038320" y="2386080"/>
            <a:ext cx="495000" cy="495000"/>
          </a:xfrm>
          <a:prstGeom prst="rect">
            <a:avLst/>
          </a:prstGeom>
          <a:ln w="0">
            <a:noFill/>
          </a:ln>
        </p:spPr>
      </p:pic>
      <p:pic>
        <p:nvPicPr>
          <p:cNvPr id="288" name="Google Shape;411;p33" descr="image.png"/>
          <p:cNvPicPr/>
          <p:nvPr/>
        </p:nvPicPr>
        <p:blipFill>
          <a:blip r:embed="rId5"/>
          <a:stretch/>
        </p:blipFill>
        <p:spPr>
          <a:xfrm>
            <a:off x="5786280" y="2386080"/>
            <a:ext cx="618840" cy="495000"/>
          </a:xfrm>
          <a:prstGeom prst="rect">
            <a:avLst/>
          </a:prstGeom>
          <a:ln w="0">
            <a:noFill/>
          </a:ln>
        </p:spPr>
      </p:pic>
      <p:pic>
        <p:nvPicPr>
          <p:cNvPr id="289" name="Google Shape;412;p33" descr="image.png"/>
          <p:cNvPicPr/>
          <p:nvPr/>
        </p:nvPicPr>
        <p:blipFill>
          <a:blip r:embed="rId6"/>
          <a:stretch/>
        </p:blipFill>
        <p:spPr>
          <a:xfrm>
            <a:off x="9720360" y="2386080"/>
            <a:ext cx="371160" cy="495000"/>
          </a:xfrm>
          <a:prstGeom prst="rect">
            <a:avLst/>
          </a:prstGeom>
          <a:ln w="0">
            <a:noFill/>
          </a:ln>
        </p:spPr>
      </p:pic>
      <p:sp>
        <p:nvSpPr>
          <p:cNvPr id="290" name="Google Shape;413;p33"/>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Sprints 4 to 6 Breakdown</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91" name="Google Shape;418;p34"/>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292" name="Google Shape;419;p34"/>
          <p:cNvSpPr/>
          <p:nvPr/>
        </p:nvSpPr>
        <p:spPr>
          <a:xfrm>
            <a:off x="3565800" y="2877480"/>
            <a:ext cx="506016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05. Data Pipeline</a:t>
            </a:r>
            <a:endParaRPr b="0" lang="en-US" sz="4800" spc="-1" strike="noStrike">
              <a:solidFill>
                <a:srgbClr val="ffffff"/>
              </a:solidFill>
              <a:latin typeface="Arial"/>
            </a:endParaRPr>
          </a:p>
        </p:txBody>
      </p:sp>
      <p:sp>
        <p:nvSpPr>
          <p:cNvPr id="293" name="Google Shape;420;p34"/>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Acquiring, annotating, and processing the foundational dataset required to train an accurate computer vision model.</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294" name="Google Shape;425;p35" descr="image.png"/>
          <p:cNvPicPr/>
          <p:nvPr/>
        </p:nvPicPr>
        <p:blipFill>
          <a:blip r:embed="rId1"/>
          <a:stretch/>
        </p:blipFill>
        <p:spPr>
          <a:xfrm>
            <a:off x="6334200" y="1652760"/>
            <a:ext cx="5285880" cy="3809520"/>
          </a:xfrm>
          <a:prstGeom prst="rect">
            <a:avLst/>
          </a:prstGeom>
          <a:ln w="0">
            <a:noFill/>
          </a:ln>
        </p:spPr>
      </p:pic>
      <p:sp>
        <p:nvSpPr>
          <p:cNvPr id="295" name="Google Shape;426;p35"/>
          <p:cNvSpPr/>
          <p:nvPr/>
        </p:nvSpPr>
        <p:spPr>
          <a:xfrm>
            <a:off x="571680" y="1652760"/>
            <a:ext cx="5285880" cy="73188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Due to the lack of public datasets matching our exact parameters, a custom dataset was meticulously developed.</a:t>
            </a:r>
            <a:endParaRPr b="0" lang="en-US" sz="1500" spc="-1" strike="noStrike">
              <a:solidFill>
                <a:srgbClr val="ffffff"/>
              </a:solidFill>
              <a:latin typeface="Arial"/>
            </a:endParaRPr>
          </a:p>
        </p:txBody>
      </p:sp>
      <p:sp>
        <p:nvSpPr>
          <p:cNvPr id="296" name="Google Shape;427;p35"/>
          <p:cNvSpPr/>
          <p:nvPr/>
        </p:nvSpPr>
        <p:spPr>
          <a:xfrm>
            <a:off x="704880" y="27576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297" name="Google Shape;428;p35"/>
          <p:cNvSpPr/>
          <p:nvPr/>
        </p:nvSpPr>
        <p:spPr>
          <a:xfrm>
            <a:off x="809640" y="2757600"/>
            <a:ext cx="50479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Hardware Used:</a:t>
            </a:r>
            <a:r>
              <a:rPr b="0" lang="en-US" sz="1500" spc="-1" strike="noStrike">
                <a:solidFill>
                  <a:srgbClr val="cbd5e1"/>
                </a:solidFill>
                <a:latin typeface="Inter"/>
                <a:ea typeface="Inter"/>
              </a:rPr>
              <a:t> Mobile phone cameras combined with specialized UV lamps.</a:t>
            </a:r>
            <a:endParaRPr b="0" lang="en-US" sz="1500" spc="-1" strike="noStrike">
              <a:solidFill>
                <a:srgbClr val="ffffff"/>
              </a:solidFill>
              <a:latin typeface="Arial"/>
            </a:endParaRPr>
          </a:p>
        </p:txBody>
      </p:sp>
      <p:sp>
        <p:nvSpPr>
          <p:cNvPr id="298" name="Google Shape;429;p35"/>
          <p:cNvSpPr/>
          <p:nvPr/>
        </p:nvSpPr>
        <p:spPr>
          <a:xfrm>
            <a:off x="704880" y="35193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299" name="Google Shape;430;p35"/>
          <p:cNvSpPr/>
          <p:nvPr/>
        </p:nvSpPr>
        <p:spPr>
          <a:xfrm>
            <a:off x="809640" y="3519360"/>
            <a:ext cx="50479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Process:</a:t>
            </a:r>
            <a:r>
              <a:rPr b="0" lang="en-US" sz="1500" spc="-1" strike="noStrike">
                <a:solidFill>
                  <a:srgbClr val="cbd5e1"/>
                </a:solidFill>
                <a:latin typeface="Inter"/>
                <a:ea typeface="Inter"/>
              </a:rPr>
              <a:t> Recorded volunteers' hands under UV illumination capturing varying contamination states.</a:t>
            </a:r>
            <a:endParaRPr b="0" lang="en-US" sz="1500" spc="-1" strike="noStrike">
              <a:solidFill>
                <a:srgbClr val="ffffff"/>
              </a:solidFill>
              <a:latin typeface="Arial"/>
            </a:endParaRPr>
          </a:p>
        </p:txBody>
      </p:sp>
      <p:sp>
        <p:nvSpPr>
          <p:cNvPr id="300" name="Google Shape;431;p35"/>
          <p:cNvSpPr/>
          <p:nvPr/>
        </p:nvSpPr>
        <p:spPr>
          <a:xfrm>
            <a:off x="704880" y="428148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01" name="Google Shape;432;p35"/>
          <p:cNvSpPr/>
          <p:nvPr/>
        </p:nvSpPr>
        <p:spPr>
          <a:xfrm>
            <a:off x="809640" y="4281480"/>
            <a:ext cx="50479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Extraction:</a:t>
            </a:r>
            <a:r>
              <a:rPr b="0" lang="en-US" sz="1500" spc="-1" strike="noStrike">
                <a:solidFill>
                  <a:srgbClr val="cbd5e1"/>
                </a:solidFill>
                <a:latin typeface="Inter"/>
                <a:ea typeface="Inter"/>
              </a:rPr>
              <a:t> Videos processed to extract 700–800 highly detailed original image frames.</a:t>
            </a:r>
            <a:endParaRPr b="0" lang="en-US" sz="1500" spc="-1" strike="noStrike">
              <a:solidFill>
                <a:srgbClr val="ffffff"/>
              </a:solidFill>
              <a:latin typeface="Arial"/>
            </a:endParaRPr>
          </a:p>
        </p:txBody>
      </p:sp>
      <p:sp>
        <p:nvSpPr>
          <p:cNvPr id="302" name="Google Shape;433;p35"/>
          <p:cNvSpPr/>
          <p:nvPr/>
        </p:nvSpPr>
        <p:spPr>
          <a:xfrm>
            <a:off x="704880" y="504360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03" name="Google Shape;434;p35"/>
          <p:cNvSpPr/>
          <p:nvPr/>
        </p:nvSpPr>
        <p:spPr>
          <a:xfrm>
            <a:off x="809640" y="5043600"/>
            <a:ext cx="5047920" cy="109692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Diversity:</a:t>
            </a:r>
            <a:r>
              <a:rPr b="0" lang="en-US" sz="1500" spc="-1" strike="noStrike">
                <a:solidFill>
                  <a:srgbClr val="cbd5e1"/>
                </a:solidFill>
                <a:latin typeface="Inter"/>
                <a:ea typeface="Inter"/>
              </a:rPr>
              <a:t> Variations in hand size, skin tone, positioning, and UV reflection patterns were captured to prevent model overfitting.</a:t>
            </a:r>
            <a:endParaRPr b="0" lang="en-US" sz="1500" spc="-1" strike="noStrike">
              <a:solidFill>
                <a:srgbClr val="ffffff"/>
              </a:solidFill>
              <a:latin typeface="Arial"/>
            </a:endParaRPr>
          </a:p>
        </p:txBody>
      </p:sp>
      <p:pic>
        <p:nvPicPr>
          <p:cNvPr id="304" name="Google Shape;435;p35" descr="image.png"/>
          <p:cNvPicPr/>
          <p:nvPr/>
        </p:nvPicPr>
        <p:blipFill>
          <a:blip r:embed="rId2"/>
          <a:stretch/>
        </p:blipFill>
        <p:spPr>
          <a:xfrm>
            <a:off x="6334200" y="1652760"/>
            <a:ext cx="5285880" cy="3809520"/>
          </a:xfrm>
          <a:prstGeom prst="rect">
            <a:avLst/>
          </a:prstGeom>
          <a:ln w="0">
            <a:noFill/>
          </a:ln>
        </p:spPr>
      </p:pic>
      <p:sp>
        <p:nvSpPr>
          <p:cNvPr id="305" name="Google Shape;436;p35"/>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Dataset Sourcing &amp; Collection</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306" name="Google Shape;441;p36" descr="image.png"/>
          <p:cNvPicPr/>
          <p:nvPr/>
        </p:nvPicPr>
        <p:blipFill>
          <a:blip r:embed="rId1"/>
          <a:stretch/>
        </p:blipFill>
        <p:spPr>
          <a:xfrm>
            <a:off x="571680" y="1652760"/>
            <a:ext cx="5285880" cy="4457520"/>
          </a:xfrm>
          <a:prstGeom prst="rect">
            <a:avLst/>
          </a:prstGeom>
          <a:ln w="0">
            <a:noFill/>
          </a:ln>
        </p:spPr>
      </p:pic>
      <p:pic>
        <p:nvPicPr>
          <p:cNvPr id="307" name="Google Shape;442;p36" descr="image.png"/>
          <p:cNvPicPr/>
          <p:nvPr/>
        </p:nvPicPr>
        <p:blipFill>
          <a:blip r:embed="rId2"/>
          <a:stretch/>
        </p:blipFill>
        <p:spPr>
          <a:xfrm>
            <a:off x="6334200" y="1652760"/>
            <a:ext cx="5285880" cy="4457520"/>
          </a:xfrm>
          <a:prstGeom prst="rect">
            <a:avLst/>
          </a:prstGeom>
          <a:ln w="0">
            <a:noFill/>
          </a:ln>
        </p:spPr>
      </p:pic>
      <p:sp>
        <p:nvSpPr>
          <p:cNvPr id="308" name="Google Shape;443;p36"/>
          <p:cNvSpPr/>
          <p:nvPr/>
        </p:nvSpPr>
        <p:spPr>
          <a:xfrm>
            <a:off x="849240" y="2043000"/>
            <a:ext cx="4730400" cy="3204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Manual Baseline</a:t>
            </a:r>
            <a:endParaRPr b="0" lang="en-US" sz="2100" spc="-1" strike="noStrike">
              <a:solidFill>
                <a:srgbClr val="ffffff"/>
              </a:solidFill>
              <a:latin typeface="Arial"/>
            </a:endParaRPr>
          </a:p>
        </p:txBody>
      </p:sp>
      <p:sp>
        <p:nvSpPr>
          <p:cNvPr id="309" name="Google Shape;444;p36"/>
          <p:cNvSpPr/>
          <p:nvPr/>
        </p:nvSpPr>
        <p:spPr>
          <a:xfrm>
            <a:off x="961920" y="2529000"/>
            <a:ext cx="4505040" cy="146340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Initially, 90 images were annotated by hand using Roboflow. Bounding boxes were meticulously drawn and classified into three primary categories based on fluorescent residue coverage:</a:t>
            </a:r>
            <a:endParaRPr b="0" lang="en-US" sz="1500" spc="-1" strike="noStrike">
              <a:solidFill>
                <a:srgbClr val="ffffff"/>
              </a:solidFill>
              <a:latin typeface="Arial"/>
            </a:endParaRPr>
          </a:p>
        </p:txBody>
      </p:sp>
      <p:sp>
        <p:nvSpPr>
          <p:cNvPr id="310" name="Google Shape;445;p36"/>
          <p:cNvSpPr/>
          <p:nvPr/>
        </p:nvSpPr>
        <p:spPr>
          <a:xfrm>
            <a:off x="6612120" y="2043000"/>
            <a:ext cx="4730400" cy="3204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Automated Scaling</a:t>
            </a:r>
            <a:endParaRPr b="0" lang="en-US" sz="2100" spc="-1" strike="noStrike">
              <a:solidFill>
                <a:srgbClr val="ffffff"/>
              </a:solidFill>
              <a:latin typeface="Arial"/>
            </a:endParaRPr>
          </a:p>
        </p:txBody>
      </p:sp>
      <p:sp>
        <p:nvSpPr>
          <p:cNvPr id="311" name="Google Shape;446;p36"/>
          <p:cNvSpPr/>
          <p:nvPr/>
        </p:nvSpPr>
        <p:spPr>
          <a:xfrm>
            <a:off x="6724800" y="2529000"/>
            <a:ext cx="450504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The manual baseline was used to train a preliminary Roboflow auto-label model.</a:t>
            </a:r>
            <a:endParaRPr b="0" lang="en-US" sz="1500" spc="-1" strike="noStrike">
              <a:solidFill>
                <a:srgbClr val="ffffff"/>
              </a:solidFill>
              <a:latin typeface="Arial"/>
            </a:endParaRPr>
          </a:p>
        </p:txBody>
      </p:sp>
      <p:sp>
        <p:nvSpPr>
          <p:cNvPr id="312" name="Google Shape;447;p36"/>
          <p:cNvSpPr/>
          <p:nvPr/>
        </p:nvSpPr>
        <p:spPr>
          <a:xfrm>
            <a:off x="6724800" y="3290760"/>
            <a:ext cx="4505040" cy="18284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This model automatically annotated the remaining hundreds of frames. Every single generated annotation was subsequently subjected to manual review and correction by the team to guarantee absolute dataset integrity and consistency.</a:t>
            </a:r>
            <a:endParaRPr b="0" lang="en-US" sz="1500" spc="-1" strike="noStrike">
              <a:solidFill>
                <a:srgbClr val="ffffff"/>
              </a:solidFill>
              <a:latin typeface="Arial"/>
            </a:endParaRPr>
          </a:p>
        </p:txBody>
      </p:sp>
      <p:sp>
        <p:nvSpPr>
          <p:cNvPr id="313" name="Google Shape;448;p36"/>
          <p:cNvSpPr/>
          <p:nvPr/>
        </p:nvSpPr>
        <p:spPr>
          <a:xfrm>
            <a:off x="961920" y="4348080"/>
            <a:ext cx="45050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1" lang="en-US" sz="1500" spc="-1" strike="noStrike">
                <a:solidFill>
                  <a:srgbClr val="34d399"/>
                </a:solidFill>
                <a:latin typeface="Inter"/>
                <a:ea typeface="Inter"/>
              </a:rPr>
              <a:t>Clean:</a:t>
            </a:r>
            <a:r>
              <a:rPr b="0" lang="en-US" sz="1500" spc="-1" strike="noStrike">
                <a:solidFill>
                  <a:srgbClr val="cbd5e1"/>
                </a:solidFill>
                <a:latin typeface="Inter"/>
                <a:ea typeface="Inter"/>
              </a:rPr>
              <a:t> Minimal fluorescent residue.</a:t>
            </a:r>
            <a:endParaRPr b="0" lang="en-US" sz="1500" spc="-1" strike="noStrike">
              <a:solidFill>
                <a:srgbClr val="ffffff"/>
              </a:solidFill>
              <a:latin typeface="Arial"/>
            </a:endParaRPr>
          </a:p>
        </p:txBody>
      </p:sp>
      <p:sp>
        <p:nvSpPr>
          <p:cNvPr id="314" name="Google Shape;449;p36"/>
          <p:cNvSpPr/>
          <p:nvPr/>
        </p:nvSpPr>
        <p:spPr>
          <a:xfrm>
            <a:off x="961920" y="4805280"/>
            <a:ext cx="45050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1" lang="en-US" sz="1500" spc="-1" strike="noStrike">
                <a:solidFill>
                  <a:srgbClr val="fcd34d"/>
                </a:solidFill>
                <a:latin typeface="Inter"/>
                <a:ea typeface="Inter"/>
              </a:rPr>
              <a:t>Partial:</a:t>
            </a:r>
            <a:r>
              <a:rPr b="0" lang="en-US" sz="1500" spc="-1" strike="noStrike">
                <a:solidFill>
                  <a:srgbClr val="cbd5e1"/>
                </a:solidFill>
                <a:latin typeface="Inter"/>
                <a:ea typeface="Inter"/>
              </a:rPr>
              <a:t> Moderate residue coverage.</a:t>
            </a:r>
            <a:endParaRPr b="0" lang="en-US" sz="1500" spc="-1" strike="noStrike">
              <a:solidFill>
                <a:srgbClr val="ffffff"/>
              </a:solidFill>
              <a:latin typeface="Arial"/>
            </a:endParaRPr>
          </a:p>
        </p:txBody>
      </p:sp>
      <p:sp>
        <p:nvSpPr>
          <p:cNvPr id="315" name="Google Shape;450;p36"/>
          <p:cNvSpPr/>
          <p:nvPr/>
        </p:nvSpPr>
        <p:spPr>
          <a:xfrm>
            <a:off x="961920" y="5262480"/>
            <a:ext cx="4505040" cy="365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1" lang="en-US" sz="1500" spc="-1" strike="noStrike">
                <a:solidFill>
                  <a:srgbClr val="f87171"/>
                </a:solidFill>
                <a:latin typeface="Inter"/>
                <a:ea typeface="Inter"/>
              </a:rPr>
              <a:t>Dirty:</a:t>
            </a:r>
            <a:r>
              <a:rPr b="0" lang="en-US" sz="1500" spc="-1" strike="noStrike">
                <a:solidFill>
                  <a:srgbClr val="cbd5e1"/>
                </a:solidFill>
                <a:latin typeface="Inter"/>
                <a:ea typeface="Inter"/>
              </a:rPr>
              <a:t> Significant residue coverage.</a:t>
            </a:r>
            <a:endParaRPr b="0" lang="en-US" sz="1500" spc="-1" strike="noStrike">
              <a:solidFill>
                <a:srgbClr val="ffffff"/>
              </a:solidFill>
              <a:latin typeface="Arial"/>
            </a:endParaRPr>
          </a:p>
        </p:txBody>
      </p:sp>
      <p:sp>
        <p:nvSpPr>
          <p:cNvPr id="316" name="Google Shape;451;p36"/>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Dataset Annotation Strategy</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317" name="Google Shape;456;p37" descr="image.png"/>
          <p:cNvPicPr/>
          <p:nvPr/>
        </p:nvPicPr>
        <p:blipFill>
          <a:blip r:embed="rId1"/>
          <a:stretch/>
        </p:blipFill>
        <p:spPr>
          <a:xfrm>
            <a:off x="571680" y="1662120"/>
            <a:ext cx="3428640" cy="4438440"/>
          </a:xfrm>
          <a:prstGeom prst="rect">
            <a:avLst/>
          </a:prstGeom>
          <a:ln w="0">
            <a:noFill/>
          </a:ln>
        </p:spPr>
      </p:pic>
      <p:pic>
        <p:nvPicPr>
          <p:cNvPr id="318" name="Google Shape;457;p37" descr="image.png"/>
          <p:cNvPicPr/>
          <p:nvPr/>
        </p:nvPicPr>
        <p:blipFill>
          <a:blip r:embed="rId2"/>
          <a:stretch/>
        </p:blipFill>
        <p:spPr>
          <a:xfrm>
            <a:off x="4381560" y="1662120"/>
            <a:ext cx="3428640" cy="4438440"/>
          </a:xfrm>
          <a:prstGeom prst="rect">
            <a:avLst/>
          </a:prstGeom>
          <a:ln w="0">
            <a:noFill/>
          </a:ln>
        </p:spPr>
      </p:pic>
      <p:pic>
        <p:nvPicPr>
          <p:cNvPr id="319" name="Google Shape;458;p37" descr="image.png"/>
          <p:cNvPicPr/>
          <p:nvPr/>
        </p:nvPicPr>
        <p:blipFill>
          <a:blip r:embed="rId3"/>
          <a:stretch/>
        </p:blipFill>
        <p:spPr>
          <a:xfrm>
            <a:off x="8191440" y="1662120"/>
            <a:ext cx="3428640" cy="4438440"/>
          </a:xfrm>
          <a:prstGeom prst="rect">
            <a:avLst/>
          </a:prstGeom>
          <a:ln w="0">
            <a:noFill/>
          </a:ln>
        </p:spPr>
      </p:pic>
      <p:sp>
        <p:nvSpPr>
          <p:cNvPr id="320" name="Google Shape;459;p37"/>
          <p:cNvSpPr/>
          <p:nvPr/>
        </p:nvSpPr>
        <p:spPr>
          <a:xfrm>
            <a:off x="1395720" y="2833560"/>
            <a:ext cx="177984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Preprocessing</a:t>
            </a:r>
            <a:endParaRPr b="0" lang="en-US" sz="2100" spc="-1" strike="noStrike">
              <a:solidFill>
                <a:srgbClr val="ffffff"/>
              </a:solidFill>
              <a:latin typeface="Arial"/>
            </a:endParaRPr>
          </a:p>
        </p:txBody>
      </p:sp>
      <p:sp>
        <p:nvSpPr>
          <p:cNvPr id="321" name="Google Shape;460;p37"/>
          <p:cNvSpPr/>
          <p:nvPr/>
        </p:nvSpPr>
        <p:spPr>
          <a:xfrm>
            <a:off x="5185800" y="2833560"/>
            <a:ext cx="181980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Augmentation</a:t>
            </a:r>
            <a:endParaRPr b="0" lang="en-US" sz="2100" spc="-1" strike="noStrike">
              <a:solidFill>
                <a:srgbClr val="ffffff"/>
              </a:solidFill>
              <a:latin typeface="Arial"/>
            </a:endParaRPr>
          </a:p>
        </p:txBody>
      </p:sp>
      <p:sp>
        <p:nvSpPr>
          <p:cNvPr id="322" name="Google Shape;461;p37"/>
          <p:cNvSpPr/>
          <p:nvPr/>
        </p:nvSpPr>
        <p:spPr>
          <a:xfrm>
            <a:off x="9120960" y="2833560"/>
            <a:ext cx="156996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Final Output</a:t>
            </a:r>
            <a:endParaRPr b="0" lang="en-US" sz="2100" spc="-1" strike="noStrike">
              <a:solidFill>
                <a:srgbClr val="ffffff"/>
              </a:solidFill>
              <a:latin typeface="Arial"/>
            </a:endParaRPr>
          </a:p>
        </p:txBody>
      </p:sp>
      <p:sp>
        <p:nvSpPr>
          <p:cNvPr id="323" name="Google Shape;462;p37"/>
          <p:cNvSpPr/>
          <p:nvPr/>
        </p:nvSpPr>
        <p:spPr>
          <a:xfrm>
            <a:off x="8929800" y="3414600"/>
            <a:ext cx="1952280" cy="11696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1" lang="en-US" sz="2400" spc="-1" strike="noStrike">
                <a:solidFill>
                  <a:srgbClr val="f8fafc"/>
                </a:solidFill>
                <a:latin typeface="Inter"/>
                <a:ea typeface="Inter"/>
              </a:rPr>
              <a:t>1,808 Images</a:t>
            </a:r>
            <a:endParaRPr b="0" lang="en-US" sz="2400" spc="-1" strike="noStrike">
              <a:solidFill>
                <a:srgbClr val="ffffff"/>
              </a:solidFill>
              <a:latin typeface="Arial"/>
            </a:endParaRPr>
          </a:p>
        </p:txBody>
      </p:sp>
      <p:sp>
        <p:nvSpPr>
          <p:cNvPr id="324" name="Google Shape;463;p37"/>
          <p:cNvSpPr/>
          <p:nvPr/>
        </p:nvSpPr>
        <p:spPr>
          <a:xfrm>
            <a:off x="8486640" y="3997440"/>
            <a:ext cx="2838240" cy="58428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200" spc="-1" strike="noStrike">
                <a:solidFill>
                  <a:srgbClr val="cbd5e1"/>
                </a:solidFill>
                <a:latin typeface="Inter"/>
                <a:ea typeface="Inter"/>
              </a:rPr>
              <a:t>Split intelligently into robust Training, Validation, and Testing subsets.</a:t>
            </a:r>
            <a:endParaRPr b="0" lang="en-US" sz="1200" spc="-1" strike="noStrike">
              <a:solidFill>
                <a:srgbClr val="ffffff"/>
              </a:solidFill>
              <a:latin typeface="Arial"/>
            </a:endParaRPr>
          </a:p>
        </p:txBody>
      </p:sp>
      <p:pic>
        <p:nvPicPr>
          <p:cNvPr id="325" name="Google Shape;464;p37" descr="image.png"/>
          <p:cNvPicPr/>
          <p:nvPr/>
        </p:nvPicPr>
        <p:blipFill>
          <a:blip r:embed="rId4"/>
          <a:stretch/>
        </p:blipFill>
        <p:spPr>
          <a:xfrm>
            <a:off x="2038320" y="2052720"/>
            <a:ext cx="495000" cy="495000"/>
          </a:xfrm>
          <a:prstGeom prst="rect">
            <a:avLst/>
          </a:prstGeom>
          <a:ln w="0">
            <a:noFill/>
          </a:ln>
        </p:spPr>
      </p:pic>
      <p:sp>
        <p:nvSpPr>
          <p:cNvPr id="326" name="Google Shape;465;p37"/>
          <p:cNvSpPr/>
          <p:nvPr/>
        </p:nvSpPr>
        <p:spPr>
          <a:xfrm>
            <a:off x="952560" y="33195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27" name="Google Shape;466;p37"/>
          <p:cNvSpPr/>
          <p:nvPr/>
        </p:nvSpPr>
        <p:spPr>
          <a:xfrm>
            <a:off x="1057320" y="3319560"/>
            <a:ext cx="26474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Auto-orientation applied.</a:t>
            </a:r>
            <a:endParaRPr b="0" lang="en-US" sz="1500" spc="-1" strike="noStrike">
              <a:solidFill>
                <a:srgbClr val="ffffff"/>
              </a:solidFill>
              <a:latin typeface="Arial"/>
            </a:endParaRPr>
          </a:p>
        </p:txBody>
      </p:sp>
      <p:sp>
        <p:nvSpPr>
          <p:cNvPr id="328" name="Google Shape;467;p37"/>
          <p:cNvSpPr/>
          <p:nvPr/>
        </p:nvSpPr>
        <p:spPr>
          <a:xfrm>
            <a:off x="952560" y="37767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29" name="Google Shape;468;p37"/>
          <p:cNvSpPr/>
          <p:nvPr/>
        </p:nvSpPr>
        <p:spPr>
          <a:xfrm>
            <a:off x="1057320" y="3776760"/>
            <a:ext cx="264744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EXIF metadata removed for privacy and normalization.</a:t>
            </a:r>
            <a:endParaRPr b="0" lang="en-US" sz="1500" spc="-1" strike="noStrike">
              <a:solidFill>
                <a:srgbClr val="ffffff"/>
              </a:solidFill>
              <a:latin typeface="Arial"/>
            </a:endParaRPr>
          </a:p>
        </p:txBody>
      </p:sp>
      <p:sp>
        <p:nvSpPr>
          <p:cNvPr id="330" name="Google Shape;469;p37"/>
          <p:cNvSpPr/>
          <p:nvPr/>
        </p:nvSpPr>
        <p:spPr>
          <a:xfrm>
            <a:off x="952560" y="453852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31" name="Google Shape;470;p37"/>
          <p:cNvSpPr/>
          <p:nvPr/>
        </p:nvSpPr>
        <p:spPr>
          <a:xfrm>
            <a:off x="1057320" y="4538520"/>
            <a:ext cx="264744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Resized globally to 512 × 512 pixels for consistency.</a:t>
            </a:r>
            <a:endParaRPr b="0" lang="en-US" sz="1500" spc="-1" strike="noStrike">
              <a:solidFill>
                <a:srgbClr val="ffffff"/>
              </a:solidFill>
              <a:latin typeface="Arial"/>
            </a:endParaRPr>
          </a:p>
        </p:txBody>
      </p:sp>
      <p:pic>
        <p:nvPicPr>
          <p:cNvPr id="332" name="Google Shape;471;p37" descr="image.png"/>
          <p:cNvPicPr/>
          <p:nvPr/>
        </p:nvPicPr>
        <p:blipFill>
          <a:blip r:embed="rId5"/>
          <a:stretch/>
        </p:blipFill>
        <p:spPr>
          <a:xfrm>
            <a:off x="5848200" y="2052720"/>
            <a:ext cx="495000" cy="495000"/>
          </a:xfrm>
          <a:prstGeom prst="rect">
            <a:avLst/>
          </a:prstGeom>
          <a:ln w="0">
            <a:noFill/>
          </a:ln>
        </p:spPr>
      </p:pic>
      <p:sp>
        <p:nvSpPr>
          <p:cNvPr id="333" name="Google Shape;472;p37"/>
          <p:cNvSpPr/>
          <p:nvPr/>
        </p:nvSpPr>
        <p:spPr>
          <a:xfrm>
            <a:off x="4762440" y="33195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34" name="Google Shape;473;p37"/>
          <p:cNvSpPr/>
          <p:nvPr/>
        </p:nvSpPr>
        <p:spPr>
          <a:xfrm>
            <a:off x="4867200" y="3319560"/>
            <a:ext cx="26474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Horizontal flip (50% prob).</a:t>
            </a:r>
            <a:endParaRPr b="0" lang="en-US" sz="1500" spc="-1" strike="noStrike">
              <a:solidFill>
                <a:srgbClr val="ffffff"/>
              </a:solidFill>
              <a:latin typeface="Arial"/>
            </a:endParaRPr>
          </a:p>
        </p:txBody>
      </p:sp>
      <p:sp>
        <p:nvSpPr>
          <p:cNvPr id="335" name="Google Shape;474;p37"/>
          <p:cNvSpPr/>
          <p:nvPr/>
        </p:nvSpPr>
        <p:spPr>
          <a:xfrm>
            <a:off x="4762440" y="37767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36" name="Google Shape;475;p37"/>
          <p:cNvSpPr/>
          <p:nvPr/>
        </p:nvSpPr>
        <p:spPr>
          <a:xfrm>
            <a:off x="4867200" y="3776760"/>
            <a:ext cx="2647440" cy="36540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Vertical flip (50% prob).</a:t>
            </a:r>
            <a:endParaRPr b="0" lang="en-US" sz="1500" spc="-1" strike="noStrike">
              <a:solidFill>
                <a:srgbClr val="ffffff"/>
              </a:solidFill>
              <a:latin typeface="Arial"/>
            </a:endParaRPr>
          </a:p>
        </p:txBody>
      </p:sp>
      <p:sp>
        <p:nvSpPr>
          <p:cNvPr id="337" name="Google Shape;476;p37"/>
          <p:cNvSpPr/>
          <p:nvPr/>
        </p:nvSpPr>
        <p:spPr>
          <a:xfrm>
            <a:off x="4762440" y="423396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38" name="Google Shape;477;p37"/>
          <p:cNvSpPr/>
          <p:nvPr/>
        </p:nvSpPr>
        <p:spPr>
          <a:xfrm>
            <a:off x="4867200" y="4233960"/>
            <a:ext cx="2647440" cy="36612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Random 90-degree rotations.</a:t>
            </a:r>
            <a:endParaRPr b="0" lang="en-US" sz="1500" spc="-1" strike="noStrike">
              <a:solidFill>
                <a:srgbClr val="ffffff"/>
              </a:solidFill>
              <a:latin typeface="Arial"/>
            </a:endParaRPr>
          </a:p>
        </p:txBody>
      </p:sp>
      <p:sp>
        <p:nvSpPr>
          <p:cNvPr id="339" name="Google Shape;478;p37"/>
          <p:cNvSpPr/>
          <p:nvPr/>
        </p:nvSpPr>
        <p:spPr>
          <a:xfrm>
            <a:off x="4762440" y="499572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340" name="Google Shape;479;p37"/>
          <p:cNvSpPr/>
          <p:nvPr/>
        </p:nvSpPr>
        <p:spPr>
          <a:xfrm>
            <a:off x="4867200" y="4995720"/>
            <a:ext cx="264744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0" lang="en-US" sz="1500" spc="-1" strike="noStrike">
                <a:solidFill>
                  <a:srgbClr val="cbd5e1"/>
                </a:solidFill>
                <a:latin typeface="Inter"/>
                <a:ea typeface="Inter"/>
              </a:rPr>
              <a:t>Random image cropping (0–9%).</a:t>
            </a:r>
            <a:endParaRPr b="0" lang="en-US" sz="1500" spc="-1" strike="noStrike">
              <a:solidFill>
                <a:srgbClr val="ffffff"/>
              </a:solidFill>
              <a:latin typeface="Arial"/>
            </a:endParaRPr>
          </a:p>
        </p:txBody>
      </p:sp>
      <p:pic>
        <p:nvPicPr>
          <p:cNvPr id="341" name="Google Shape;480;p37" descr="image.png"/>
          <p:cNvPicPr/>
          <p:nvPr/>
        </p:nvPicPr>
        <p:blipFill>
          <a:blip r:embed="rId6"/>
          <a:stretch/>
        </p:blipFill>
        <p:spPr>
          <a:xfrm>
            <a:off x="9686880" y="2052720"/>
            <a:ext cx="437760" cy="495000"/>
          </a:xfrm>
          <a:prstGeom prst="rect">
            <a:avLst/>
          </a:prstGeom>
          <a:ln w="0">
            <a:noFill/>
          </a:ln>
        </p:spPr>
      </p:pic>
      <p:sp>
        <p:nvSpPr>
          <p:cNvPr id="342" name="Google Shape;481;p37"/>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Preprocessing &amp; Augmentation</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343" name="Google Shape;486;p38"/>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44" name="Google Shape;487;p38"/>
          <p:cNvSpPr/>
          <p:nvPr/>
        </p:nvSpPr>
        <p:spPr>
          <a:xfrm>
            <a:off x="2245680" y="2877480"/>
            <a:ext cx="770076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06. Technical Architecture</a:t>
            </a:r>
            <a:endParaRPr b="0" lang="en-US" sz="4800" spc="-1" strike="noStrike">
              <a:solidFill>
                <a:srgbClr val="ffffff"/>
              </a:solidFill>
              <a:latin typeface="Arial"/>
            </a:endParaRPr>
          </a:p>
        </p:txBody>
      </p:sp>
      <p:sp>
        <p:nvSpPr>
          <p:cNvPr id="345" name="Google Shape;488;p38"/>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The underlying infrastructure, models, and workflows driving the AI-powered predictions.</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346" name="Google Shape;493;p39"/>
          <p:cNvSpPr/>
          <p:nvPr/>
        </p:nvSpPr>
        <p:spPr>
          <a:xfrm>
            <a:off x="571680" y="571680"/>
            <a:ext cx="5550480" cy="10062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System Architecture &amp; Pipeline</a:t>
            </a:r>
            <a:endParaRPr b="0" lang="en-US" sz="3300" spc="-1" strike="noStrike">
              <a:solidFill>
                <a:srgbClr val="ffffff"/>
              </a:solidFill>
              <a:latin typeface="Arial"/>
            </a:endParaRPr>
          </a:p>
        </p:txBody>
      </p:sp>
      <p:pic>
        <p:nvPicPr>
          <p:cNvPr id="347" name="Google Shape;494;p39" descr="image.png"/>
          <p:cNvPicPr/>
          <p:nvPr/>
        </p:nvPicPr>
        <p:blipFill>
          <a:blip r:embed="rId1"/>
          <a:stretch/>
        </p:blipFill>
        <p:spPr>
          <a:xfrm>
            <a:off x="6334200" y="0"/>
            <a:ext cx="5857560" cy="6857640"/>
          </a:xfrm>
          <a:prstGeom prst="rect">
            <a:avLst/>
          </a:prstGeom>
          <a:ln w="0">
            <a:noFill/>
          </a:ln>
        </p:spPr>
      </p:pic>
      <p:sp>
        <p:nvSpPr>
          <p:cNvPr id="348" name="Google Shape;495;p39"/>
          <p:cNvSpPr/>
          <p:nvPr/>
        </p:nvSpPr>
        <p:spPr>
          <a:xfrm>
            <a:off x="571680" y="200016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The system utilizes an elegant, low-latency 5-layer architecture flowing from user input down to result presentation.</a:t>
            </a:r>
            <a:endParaRPr b="0" lang="en-US" sz="1500" spc="-1" strike="noStrike">
              <a:solidFill>
                <a:srgbClr val="ffffff"/>
              </a:solidFill>
              <a:latin typeface="Arial"/>
            </a:endParaRPr>
          </a:p>
        </p:txBody>
      </p:sp>
      <p:sp>
        <p:nvSpPr>
          <p:cNvPr id="349" name="Google Shape;496;p39"/>
          <p:cNvSpPr/>
          <p:nvPr/>
        </p:nvSpPr>
        <p:spPr>
          <a:xfrm>
            <a:off x="571680" y="3257640"/>
            <a:ext cx="5550480" cy="2746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800" spc="-1" strike="noStrike">
                <a:solidFill>
                  <a:srgbClr val="38bdf8"/>
                </a:solidFill>
                <a:latin typeface="Outfit SemiBold"/>
                <a:ea typeface="Outfit SemiBold"/>
              </a:rPr>
              <a:t>8-Step AI Processing Pipeline</a:t>
            </a:r>
            <a:endParaRPr b="0" lang="en-US" sz="1800" spc="-1" strike="noStrike">
              <a:solidFill>
                <a:srgbClr val="ffffff"/>
              </a:solidFill>
              <a:latin typeface="Arial"/>
            </a:endParaRPr>
          </a:p>
        </p:txBody>
      </p:sp>
      <p:sp>
        <p:nvSpPr>
          <p:cNvPr id="350" name="Google Shape;497;p39"/>
          <p:cNvSpPr/>
          <p:nvPr/>
        </p:nvSpPr>
        <p:spPr>
          <a:xfrm>
            <a:off x="819000" y="3790800"/>
            <a:ext cx="132840" cy="456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1.</a:t>
            </a:r>
            <a:endParaRPr b="0" lang="en-US" sz="1500" spc="-1" strike="noStrike">
              <a:solidFill>
                <a:srgbClr val="ffffff"/>
              </a:solidFill>
              <a:latin typeface="Arial"/>
            </a:endParaRPr>
          </a:p>
        </p:txBody>
      </p:sp>
      <p:sp>
        <p:nvSpPr>
          <p:cNvPr id="351" name="Google Shape;498;p39"/>
          <p:cNvSpPr/>
          <p:nvPr/>
        </p:nvSpPr>
        <p:spPr>
          <a:xfrm>
            <a:off x="952560" y="3790800"/>
            <a:ext cx="4905000" cy="365400"/>
          </a:xfrm>
          <a:prstGeom prst="rect">
            <a:avLst/>
          </a:prstGeom>
          <a:noFill/>
          <a:ln w="0">
            <a:noFill/>
          </a:ln>
        </p:spPr>
        <p:style>
          <a:lnRef idx="0"/>
          <a:fillRef idx="0"/>
          <a:effectRef idx="0"/>
          <a:fontRef idx="minor"/>
        </p:style>
        <p:txBody>
          <a:bodyPr lIns="133200" rIns="0" tIns="0" bIns="0" anchor="t">
            <a:spAutoFit/>
          </a:bodyPr>
          <a:p>
            <a:pPr>
              <a:lnSpc>
                <a:spcPct val="160000"/>
              </a:lnSpc>
              <a:tabLst>
                <a:tab algn="l" pos="0"/>
              </a:tabLst>
            </a:pPr>
            <a:r>
              <a:rPr b="0" lang="en-US" sz="1500" spc="-1" strike="noStrike">
                <a:solidFill>
                  <a:srgbClr val="cbd5e1"/>
                </a:solidFill>
                <a:latin typeface="Inter"/>
                <a:ea typeface="Inter"/>
              </a:rPr>
              <a:t>Image Upload via Interface</a:t>
            </a:r>
            <a:endParaRPr b="0" lang="en-US" sz="1500" spc="-1" strike="noStrike">
              <a:solidFill>
                <a:srgbClr val="ffffff"/>
              </a:solidFill>
              <a:latin typeface="Arial"/>
            </a:endParaRPr>
          </a:p>
        </p:txBody>
      </p:sp>
      <p:sp>
        <p:nvSpPr>
          <p:cNvPr id="352" name="Google Shape;499;p39"/>
          <p:cNvSpPr/>
          <p:nvPr/>
        </p:nvSpPr>
        <p:spPr>
          <a:xfrm>
            <a:off x="781200" y="4248000"/>
            <a:ext cx="1710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2.</a:t>
            </a:r>
            <a:endParaRPr b="0" lang="en-US" sz="1500" spc="-1" strike="noStrike">
              <a:solidFill>
                <a:srgbClr val="ffffff"/>
              </a:solidFill>
              <a:latin typeface="Arial"/>
            </a:endParaRPr>
          </a:p>
        </p:txBody>
      </p:sp>
      <p:sp>
        <p:nvSpPr>
          <p:cNvPr id="353" name="Google Shape;500;p39"/>
          <p:cNvSpPr/>
          <p:nvPr/>
        </p:nvSpPr>
        <p:spPr>
          <a:xfrm>
            <a:off x="952560" y="4248000"/>
            <a:ext cx="4905000" cy="365400"/>
          </a:xfrm>
          <a:prstGeom prst="rect">
            <a:avLst/>
          </a:prstGeom>
          <a:noFill/>
          <a:ln w="0">
            <a:noFill/>
          </a:ln>
        </p:spPr>
        <p:style>
          <a:lnRef idx="0"/>
          <a:fillRef idx="0"/>
          <a:effectRef idx="0"/>
          <a:fontRef idx="minor"/>
        </p:style>
        <p:txBody>
          <a:bodyPr lIns="171360" rIns="0" tIns="0" bIns="0" anchor="t">
            <a:spAutoFit/>
          </a:bodyPr>
          <a:p>
            <a:pPr>
              <a:lnSpc>
                <a:spcPct val="160000"/>
              </a:lnSpc>
              <a:tabLst>
                <a:tab algn="l" pos="0"/>
              </a:tabLst>
            </a:pPr>
            <a:r>
              <a:rPr b="0" lang="en-US" sz="1500" spc="-1" strike="noStrike">
                <a:solidFill>
                  <a:srgbClr val="cbd5e1"/>
                </a:solidFill>
                <a:latin typeface="Inter"/>
                <a:ea typeface="Inter"/>
              </a:rPr>
              <a:t>Image Validation &amp; Normalization</a:t>
            </a:r>
            <a:endParaRPr b="0" lang="en-US" sz="1500" spc="-1" strike="noStrike">
              <a:solidFill>
                <a:srgbClr val="ffffff"/>
              </a:solidFill>
              <a:latin typeface="Arial"/>
            </a:endParaRPr>
          </a:p>
        </p:txBody>
      </p:sp>
      <p:sp>
        <p:nvSpPr>
          <p:cNvPr id="354" name="Google Shape;501;p39"/>
          <p:cNvSpPr/>
          <p:nvPr/>
        </p:nvSpPr>
        <p:spPr>
          <a:xfrm>
            <a:off x="781200" y="4705200"/>
            <a:ext cx="1710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3.</a:t>
            </a:r>
            <a:endParaRPr b="0" lang="en-US" sz="1500" spc="-1" strike="noStrike">
              <a:solidFill>
                <a:srgbClr val="ffffff"/>
              </a:solidFill>
              <a:latin typeface="Arial"/>
            </a:endParaRPr>
          </a:p>
        </p:txBody>
      </p:sp>
      <p:sp>
        <p:nvSpPr>
          <p:cNvPr id="355" name="Google Shape;502;p39"/>
          <p:cNvSpPr/>
          <p:nvPr/>
        </p:nvSpPr>
        <p:spPr>
          <a:xfrm>
            <a:off x="952560" y="4705200"/>
            <a:ext cx="4905000" cy="365400"/>
          </a:xfrm>
          <a:prstGeom prst="rect">
            <a:avLst/>
          </a:prstGeom>
          <a:noFill/>
          <a:ln w="0">
            <a:noFill/>
          </a:ln>
        </p:spPr>
        <p:style>
          <a:lnRef idx="0"/>
          <a:fillRef idx="0"/>
          <a:effectRef idx="0"/>
          <a:fontRef idx="minor"/>
        </p:style>
        <p:txBody>
          <a:bodyPr lIns="171360" rIns="0" tIns="0" bIns="0" anchor="t">
            <a:spAutoFit/>
          </a:bodyPr>
          <a:p>
            <a:pPr>
              <a:lnSpc>
                <a:spcPct val="160000"/>
              </a:lnSpc>
              <a:tabLst>
                <a:tab algn="l" pos="0"/>
              </a:tabLst>
            </a:pPr>
            <a:r>
              <a:rPr b="0" lang="en-US" sz="1500" spc="-1" strike="noStrike">
                <a:solidFill>
                  <a:srgbClr val="cbd5e1"/>
                </a:solidFill>
                <a:latin typeface="Inter"/>
                <a:ea typeface="Inter"/>
              </a:rPr>
              <a:t>YOLOv8 Tensor Inference</a:t>
            </a:r>
            <a:endParaRPr b="0" lang="en-US" sz="1500" spc="-1" strike="noStrike">
              <a:solidFill>
                <a:srgbClr val="ffffff"/>
              </a:solidFill>
              <a:latin typeface="Arial"/>
            </a:endParaRPr>
          </a:p>
        </p:txBody>
      </p:sp>
      <p:sp>
        <p:nvSpPr>
          <p:cNvPr id="356" name="Google Shape;503;p39"/>
          <p:cNvSpPr/>
          <p:nvPr/>
        </p:nvSpPr>
        <p:spPr>
          <a:xfrm>
            <a:off x="781200" y="5162400"/>
            <a:ext cx="1710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4.</a:t>
            </a:r>
            <a:endParaRPr b="0" lang="en-US" sz="1500" spc="-1" strike="noStrike">
              <a:solidFill>
                <a:srgbClr val="ffffff"/>
              </a:solidFill>
              <a:latin typeface="Arial"/>
            </a:endParaRPr>
          </a:p>
        </p:txBody>
      </p:sp>
      <p:sp>
        <p:nvSpPr>
          <p:cNvPr id="357" name="Google Shape;504;p39"/>
          <p:cNvSpPr/>
          <p:nvPr/>
        </p:nvSpPr>
        <p:spPr>
          <a:xfrm>
            <a:off x="952560" y="5162400"/>
            <a:ext cx="4905000" cy="365400"/>
          </a:xfrm>
          <a:prstGeom prst="rect">
            <a:avLst/>
          </a:prstGeom>
          <a:noFill/>
          <a:ln w="0">
            <a:noFill/>
          </a:ln>
        </p:spPr>
        <p:style>
          <a:lnRef idx="0"/>
          <a:fillRef idx="0"/>
          <a:effectRef idx="0"/>
          <a:fontRef idx="minor"/>
        </p:style>
        <p:txBody>
          <a:bodyPr lIns="171360" rIns="0" tIns="0" bIns="0" anchor="t">
            <a:spAutoFit/>
          </a:bodyPr>
          <a:p>
            <a:pPr>
              <a:lnSpc>
                <a:spcPct val="160000"/>
              </a:lnSpc>
              <a:tabLst>
                <a:tab algn="l" pos="0"/>
              </a:tabLst>
            </a:pPr>
            <a:r>
              <a:rPr b="0" lang="en-US" sz="1500" spc="-1" strike="noStrike">
                <a:solidFill>
                  <a:srgbClr val="cbd5e1"/>
                </a:solidFill>
                <a:latin typeface="Inter"/>
                <a:ea typeface="Inter"/>
              </a:rPr>
              <a:t>Hand Region Detection</a:t>
            </a:r>
            <a:endParaRPr b="0" lang="en-US" sz="1500" spc="-1" strike="noStrike">
              <a:solidFill>
                <a:srgbClr val="ffffff"/>
              </a:solidFill>
              <a:latin typeface="Arial"/>
            </a:endParaRPr>
          </a:p>
        </p:txBody>
      </p:sp>
      <p:sp>
        <p:nvSpPr>
          <p:cNvPr id="358" name="Google Shape;505;p39"/>
          <p:cNvSpPr/>
          <p:nvPr/>
        </p:nvSpPr>
        <p:spPr>
          <a:xfrm>
            <a:off x="790560" y="5619600"/>
            <a:ext cx="16164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5.</a:t>
            </a:r>
            <a:endParaRPr b="0" lang="en-US" sz="1500" spc="-1" strike="noStrike">
              <a:solidFill>
                <a:srgbClr val="ffffff"/>
              </a:solidFill>
              <a:latin typeface="Arial"/>
            </a:endParaRPr>
          </a:p>
        </p:txBody>
      </p:sp>
      <p:sp>
        <p:nvSpPr>
          <p:cNvPr id="359" name="Google Shape;506;p39"/>
          <p:cNvSpPr/>
          <p:nvPr/>
        </p:nvSpPr>
        <p:spPr>
          <a:xfrm>
            <a:off x="952560" y="5619600"/>
            <a:ext cx="4905000" cy="365400"/>
          </a:xfrm>
          <a:prstGeom prst="rect">
            <a:avLst/>
          </a:prstGeom>
          <a:noFill/>
          <a:ln w="0">
            <a:noFill/>
          </a:ln>
        </p:spPr>
        <p:style>
          <a:lnRef idx="0"/>
          <a:fillRef idx="0"/>
          <a:effectRef idx="0"/>
          <a:fontRef idx="minor"/>
        </p:style>
        <p:txBody>
          <a:bodyPr lIns="162000" rIns="0" tIns="0" bIns="0" anchor="t">
            <a:spAutoFit/>
          </a:bodyPr>
          <a:p>
            <a:pPr>
              <a:lnSpc>
                <a:spcPct val="160000"/>
              </a:lnSpc>
              <a:tabLst>
                <a:tab algn="l" pos="0"/>
              </a:tabLst>
            </a:pPr>
            <a:r>
              <a:rPr b="0" lang="en-US" sz="1500" spc="-1" strike="noStrike">
                <a:solidFill>
                  <a:srgbClr val="cbd5e1"/>
                </a:solidFill>
                <a:latin typeface="Inter"/>
                <a:ea typeface="Inter"/>
              </a:rPr>
              <a:t>Cleanliness Classification</a:t>
            </a:r>
            <a:endParaRPr b="0" lang="en-US" sz="1500" spc="-1" strike="noStrike">
              <a:solidFill>
                <a:srgbClr val="ffffff"/>
              </a:solidFill>
              <a:latin typeface="Arial"/>
            </a:endParaRPr>
          </a:p>
        </p:txBody>
      </p:sp>
      <p:sp>
        <p:nvSpPr>
          <p:cNvPr id="360" name="Google Shape;507;p39"/>
          <p:cNvSpPr/>
          <p:nvPr/>
        </p:nvSpPr>
        <p:spPr>
          <a:xfrm>
            <a:off x="790560" y="6076800"/>
            <a:ext cx="16164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6.</a:t>
            </a:r>
            <a:endParaRPr b="0" lang="en-US" sz="1500" spc="-1" strike="noStrike">
              <a:solidFill>
                <a:srgbClr val="ffffff"/>
              </a:solidFill>
              <a:latin typeface="Arial"/>
            </a:endParaRPr>
          </a:p>
        </p:txBody>
      </p:sp>
      <p:sp>
        <p:nvSpPr>
          <p:cNvPr id="361" name="Google Shape;508;p39"/>
          <p:cNvSpPr/>
          <p:nvPr/>
        </p:nvSpPr>
        <p:spPr>
          <a:xfrm>
            <a:off x="952560" y="6076800"/>
            <a:ext cx="4905000" cy="365400"/>
          </a:xfrm>
          <a:prstGeom prst="rect">
            <a:avLst/>
          </a:prstGeom>
          <a:noFill/>
          <a:ln w="0">
            <a:noFill/>
          </a:ln>
        </p:spPr>
        <p:style>
          <a:lnRef idx="0"/>
          <a:fillRef idx="0"/>
          <a:effectRef idx="0"/>
          <a:fontRef idx="minor"/>
        </p:style>
        <p:txBody>
          <a:bodyPr lIns="162000" rIns="0" tIns="0" bIns="0" anchor="t">
            <a:spAutoFit/>
          </a:bodyPr>
          <a:p>
            <a:pPr>
              <a:lnSpc>
                <a:spcPct val="160000"/>
              </a:lnSpc>
              <a:tabLst>
                <a:tab algn="l" pos="0"/>
              </a:tabLst>
            </a:pPr>
            <a:r>
              <a:rPr b="0" lang="en-US" sz="1500" spc="-1" strike="noStrike">
                <a:solidFill>
                  <a:srgbClr val="cbd5e1"/>
                </a:solidFill>
                <a:latin typeface="Inter"/>
                <a:ea typeface="Inter"/>
              </a:rPr>
              <a:t>Confidence Score Calculation</a:t>
            </a:r>
            <a:endParaRPr b="0" lang="en-US" sz="1500" spc="-1" strike="noStrike">
              <a:solidFill>
                <a:srgbClr val="ffffff"/>
              </a:solidFill>
              <a:latin typeface="Arial"/>
            </a:endParaRPr>
          </a:p>
        </p:txBody>
      </p:sp>
      <p:sp>
        <p:nvSpPr>
          <p:cNvPr id="362" name="Google Shape;509;p39"/>
          <p:cNvSpPr/>
          <p:nvPr/>
        </p:nvSpPr>
        <p:spPr>
          <a:xfrm>
            <a:off x="809640" y="6534000"/>
            <a:ext cx="142560" cy="456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7.</a:t>
            </a:r>
            <a:endParaRPr b="0" lang="en-US" sz="1500" spc="-1" strike="noStrike">
              <a:solidFill>
                <a:srgbClr val="ffffff"/>
              </a:solidFill>
              <a:latin typeface="Arial"/>
            </a:endParaRPr>
          </a:p>
        </p:txBody>
      </p:sp>
      <p:sp>
        <p:nvSpPr>
          <p:cNvPr id="363" name="Google Shape;510;p39"/>
          <p:cNvSpPr/>
          <p:nvPr/>
        </p:nvSpPr>
        <p:spPr>
          <a:xfrm>
            <a:off x="952560" y="6534000"/>
            <a:ext cx="4905000" cy="365400"/>
          </a:xfrm>
          <a:prstGeom prst="rect">
            <a:avLst/>
          </a:prstGeom>
          <a:noFill/>
          <a:ln w="0">
            <a:noFill/>
          </a:ln>
        </p:spPr>
        <p:style>
          <a:lnRef idx="0"/>
          <a:fillRef idx="0"/>
          <a:effectRef idx="0"/>
          <a:fontRef idx="minor"/>
        </p:style>
        <p:txBody>
          <a:bodyPr lIns="142920" rIns="0" tIns="0" bIns="0" anchor="t">
            <a:spAutoFit/>
          </a:bodyPr>
          <a:p>
            <a:pPr>
              <a:lnSpc>
                <a:spcPct val="160000"/>
              </a:lnSpc>
              <a:tabLst>
                <a:tab algn="l" pos="0"/>
              </a:tabLst>
            </a:pPr>
            <a:r>
              <a:rPr b="0" lang="en-US" sz="1500" spc="-1" strike="noStrike">
                <a:solidFill>
                  <a:srgbClr val="cbd5e1"/>
                </a:solidFill>
                <a:latin typeface="Inter"/>
                <a:ea typeface="Inter"/>
              </a:rPr>
              <a:t>Result Rendering (Bounding Boxes)</a:t>
            </a:r>
            <a:endParaRPr b="0" lang="en-US" sz="1500" spc="-1" strike="noStrike">
              <a:solidFill>
                <a:srgbClr val="ffffff"/>
              </a:solidFill>
              <a:latin typeface="Arial"/>
            </a:endParaRPr>
          </a:p>
        </p:txBody>
      </p:sp>
      <p:sp>
        <p:nvSpPr>
          <p:cNvPr id="364" name="Google Shape;511;p39"/>
          <p:cNvSpPr/>
          <p:nvPr/>
        </p:nvSpPr>
        <p:spPr>
          <a:xfrm>
            <a:off x="781200" y="6991200"/>
            <a:ext cx="171000" cy="228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8.</a:t>
            </a:r>
            <a:endParaRPr b="0" lang="en-US" sz="1500" spc="-1" strike="noStrike">
              <a:solidFill>
                <a:srgbClr val="ffffff"/>
              </a:solidFill>
              <a:latin typeface="Arial"/>
            </a:endParaRPr>
          </a:p>
        </p:txBody>
      </p:sp>
      <p:sp>
        <p:nvSpPr>
          <p:cNvPr id="365" name="Google Shape;512;p39"/>
          <p:cNvSpPr/>
          <p:nvPr/>
        </p:nvSpPr>
        <p:spPr>
          <a:xfrm>
            <a:off x="952560" y="6991200"/>
            <a:ext cx="4905000" cy="365400"/>
          </a:xfrm>
          <a:prstGeom prst="rect">
            <a:avLst/>
          </a:prstGeom>
          <a:noFill/>
          <a:ln w="0">
            <a:noFill/>
          </a:ln>
        </p:spPr>
        <p:style>
          <a:lnRef idx="0"/>
          <a:fillRef idx="0"/>
          <a:effectRef idx="0"/>
          <a:fontRef idx="minor"/>
        </p:style>
        <p:txBody>
          <a:bodyPr lIns="171360" rIns="0" tIns="0" bIns="0" anchor="t">
            <a:spAutoFit/>
          </a:bodyPr>
          <a:p>
            <a:pPr>
              <a:lnSpc>
                <a:spcPct val="160000"/>
              </a:lnSpc>
              <a:tabLst>
                <a:tab algn="l" pos="0"/>
              </a:tabLst>
            </a:pPr>
            <a:r>
              <a:rPr b="0" lang="en-US" sz="1500" spc="-1" strike="noStrike">
                <a:solidFill>
                  <a:srgbClr val="cbd5e1"/>
                </a:solidFill>
                <a:latin typeface="Inter"/>
                <a:ea typeface="Inter"/>
              </a:rPr>
              <a:t>User Feedback Display</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366" name="Google Shape;517;p40"/>
          <p:cNvSpPr/>
          <p:nvPr/>
        </p:nvSpPr>
        <p:spPr>
          <a:xfrm>
            <a:off x="571680" y="1075320"/>
            <a:ext cx="5550480" cy="3204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Why YOLOv8m?</a:t>
            </a:r>
            <a:endParaRPr b="0" lang="en-US" sz="2100" spc="-1" strike="noStrike">
              <a:solidFill>
                <a:srgbClr val="ffffff"/>
              </a:solidFill>
              <a:latin typeface="Arial"/>
            </a:endParaRPr>
          </a:p>
        </p:txBody>
      </p:sp>
      <p:sp>
        <p:nvSpPr>
          <p:cNvPr id="367" name="Google Shape;518;p40"/>
          <p:cNvSpPr/>
          <p:nvPr/>
        </p:nvSpPr>
        <p:spPr>
          <a:xfrm>
            <a:off x="571680" y="1561320"/>
            <a:ext cx="5285880" cy="73188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YOLOv8m (Medium) was selected for its exceptional balance of high detection accuracy and rapid inference speed.</a:t>
            </a:r>
            <a:endParaRPr b="0" lang="en-US" sz="1500" spc="-1" strike="noStrike">
              <a:solidFill>
                <a:srgbClr val="ffffff"/>
              </a:solidFill>
              <a:latin typeface="Arial"/>
            </a:endParaRPr>
          </a:p>
        </p:txBody>
      </p:sp>
      <p:sp>
        <p:nvSpPr>
          <p:cNvPr id="368" name="Google Shape;519;p40"/>
          <p:cNvSpPr/>
          <p:nvPr/>
        </p:nvSpPr>
        <p:spPr>
          <a:xfrm>
            <a:off x="571680" y="2628000"/>
            <a:ext cx="5285880" cy="146268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Unlike standard image classifiers, YOLOv8 simultaneously performs both object localisation and classification in a single pass, making it ideal for pinpointing specific hand regions on complex backgrounds.</a:t>
            </a:r>
            <a:endParaRPr b="0" lang="en-US" sz="1500" spc="-1" strike="noStrike">
              <a:solidFill>
                <a:srgbClr val="ffffff"/>
              </a:solidFill>
              <a:latin typeface="Arial"/>
            </a:endParaRPr>
          </a:p>
        </p:txBody>
      </p:sp>
      <p:sp>
        <p:nvSpPr>
          <p:cNvPr id="369" name="Google Shape;520;p40"/>
          <p:cNvSpPr/>
          <p:nvPr/>
        </p:nvSpPr>
        <p:spPr>
          <a:xfrm>
            <a:off x="6334200" y="1075320"/>
            <a:ext cx="5285880" cy="5611680"/>
          </a:xfrm>
          <a:prstGeom prst="roundRect">
            <a:avLst>
              <a:gd name="adj" fmla="val 0"/>
            </a:avLst>
          </a:prstGeom>
          <a:solidFill>
            <a:srgbClr val="1e293b"/>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graphicFrame>
        <p:nvGraphicFramePr>
          <p:cNvPr id="370" name="Google Shape;521;p40"/>
          <p:cNvGraphicFramePr/>
          <p:nvPr/>
        </p:nvGraphicFramePr>
        <p:xfrm>
          <a:off x="6334200" y="1075320"/>
          <a:ext cx="5276520" cy="5611680"/>
        </p:xfrm>
        <a:graphic>
          <a:graphicData uri="http://schemas.openxmlformats.org/drawingml/2006/table">
            <a:tbl>
              <a:tblPr/>
              <a:tblGrid>
                <a:gridCol w="2408040"/>
                <a:gridCol w="2868480"/>
              </a:tblGrid>
              <a:tr h="701280">
                <a:tc>
                  <a:txBody>
                    <a:bodyPr lIns="63360" rIns="63360" tIns="25200" bIns="25200" anchor="ctr">
                      <a:noAutofit/>
                    </a:bodyPr>
                    <a:p>
                      <a:pPr>
                        <a:lnSpc>
                          <a:spcPct val="100000"/>
                        </a:lnSpc>
                        <a:tabLst>
                          <a:tab algn="l" pos="0"/>
                        </a:tabLst>
                      </a:pPr>
                      <a:r>
                        <a:rPr b="0" lang="en-US" sz="1650" spc="-1" strike="noStrike">
                          <a:solidFill>
                            <a:srgbClr val="38bdf8"/>
                          </a:solidFill>
                          <a:latin typeface="Outfit SemiBold"/>
                          <a:ea typeface="Outfit SemiBold"/>
                        </a:rPr>
                        <a:t>Parameter</a:t>
                      </a:r>
                      <a:endParaRPr b="0" lang="en-US" sz="1650" spc="-1" strike="noStrike">
                        <a:solidFill>
                          <a:srgbClr val="ffffff"/>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0f172a"/>
                    </a:solidFill>
                  </a:tcPr>
                </a:tc>
                <a:tc>
                  <a:txBody>
                    <a:bodyPr lIns="63360" rIns="63360" tIns="25200" bIns="25200" anchor="ctr">
                      <a:noAutofit/>
                    </a:bodyPr>
                    <a:p>
                      <a:pPr>
                        <a:lnSpc>
                          <a:spcPct val="100000"/>
                        </a:lnSpc>
                        <a:tabLst>
                          <a:tab algn="l" pos="0"/>
                        </a:tabLst>
                      </a:pPr>
                      <a:r>
                        <a:rPr b="0" lang="en-US" sz="1650" spc="-1" strike="noStrike">
                          <a:solidFill>
                            <a:srgbClr val="38bdf8"/>
                          </a:solidFill>
                          <a:latin typeface="Outfit SemiBold"/>
                          <a:ea typeface="Outfit SemiBold"/>
                        </a:rPr>
                        <a:t>Configuration Value</a:t>
                      </a:r>
                      <a:endParaRPr b="0" lang="en-US" sz="1650" spc="-1" strike="noStrike">
                        <a:solidFill>
                          <a:srgbClr val="ffffff"/>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0f172a"/>
                    </a:solidFill>
                  </a:tcPr>
                </a:tc>
              </a:tr>
              <a:tr h="701280">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Architecture</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YOLOv8m</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r>
              <a:tr h="701280">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Epochs</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50 (with Early Stopping)</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r>
              <a:tr h="701280">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Image Size</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640</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r>
              <a:tr h="701280">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Batch Size</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16</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r>
              <a:tr h="701280">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Optimizer</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AdamW</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r>
              <a:tr h="701280">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Learning Rate</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0.001</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r>
              <a:tr h="701280">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Hardware</a:t>
                      </a:r>
                      <a:r>
                        <a:rPr b="0" lang="en-US" sz="1500" spc="-1" strike="noStrike">
                          <a:solidFill>
                            <a:srgbClr val="cbd5e1"/>
                          </a:solidFill>
                          <a:latin typeface="Inter"/>
                          <a:ea typeface="Inter"/>
                        </a:rPr>
                        <a:t> Compute</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CUDA GPU Acceleration</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r>
            </a:tbl>
          </a:graphicData>
        </a:graphic>
      </p:graphicFrame>
      <p:sp>
        <p:nvSpPr>
          <p:cNvPr id="371" name="Google Shape;522;p40"/>
          <p:cNvSpPr/>
          <p:nvPr/>
        </p:nvSpPr>
        <p:spPr>
          <a:xfrm>
            <a:off x="6338880" y="1791720"/>
            <a:ext cx="2407680" cy="18720"/>
          </a:xfrm>
          <a:prstGeom prst="rect">
            <a:avLst/>
          </a:prstGeom>
          <a:solidFill>
            <a:srgbClr val="38bdf8"/>
          </a:solidFill>
          <a:ln w="0">
            <a:noFill/>
          </a:ln>
        </p:spPr>
        <p:style>
          <a:lnRef idx="0"/>
          <a:fillRef idx="0"/>
          <a:effectRef idx="0"/>
          <a:fontRef idx="minor"/>
        </p:style>
        <p:txBody>
          <a:bodyPr tIns="9360" bIns="936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2" name="Google Shape;523;p40"/>
          <p:cNvSpPr/>
          <p:nvPr/>
        </p:nvSpPr>
        <p:spPr>
          <a:xfrm>
            <a:off x="8746920" y="1791720"/>
            <a:ext cx="2868480" cy="18720"/>
          </a:xfrm>
          <a:prstGeom prst="rect">
            <a:avLst/>
          </a:prstGeom>
          <a:solidFill>
            <a:srgbClr val="38bdf8"/>
          </a:solidFill>
          <a:ln w="0">
            <a:noFill/>
          </a:ln>
        </p:spPr>
        <p:style>
          <a:lnRef idx="0"/>
          <a:fillRef idx="0"/>
          <a:effectRef idx="0"/>
          <a:fontRef idx="minor"/>
        </p:style>
        <p:txBody>
          <a:bodyPr tIns="9360" bIns="936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3" name="Google Shape;524;p40"/>
          <p:cNvSpPr/>
          <p:nvPr/>
        </p:nvSpPr>
        <p:spPr>
          <a:xfrm>
            <a:off x="6338880" y="2501280"/>
            <a:ext cx="24076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4" name="Google Shape;525;p40"/>
          <p:cNvSpPr/>
          <p:nvPr/>
        </p:nvSpPr>
        <p:spPr>
          <a:xfrm>
            <a:off x="8746920" y="2501280"/>
            <a:ext cx="28684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5" name="Google Shape;526;p40"/>
          <p:cNvSpPr/>
          <p:nvPr/>
        </p:nvSpPr>
        <p:spPr>
          <a:xfrm>
            <a:off x="6338880" y="3196440"/>
            <a:ext cx="24076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6" name="Google Shape;527;p40"/>
          <p:cNvSpPr/>
          <p:nvPr/>
        </p:nvSpPr>
        <p:spPr>
          <a:xfrm>
            <a:off x="8746920" y="3196440"/>
            <a:ext cx="28684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7" name="Google Shape;528;p40"/>
          <p:cNvSpPr/>
          <p:nvPr/>
        </p:nvSpPr>
        <p:spPr>
          <a:xfrm>
            <a:off x="6338880" y="3891960"/>
            <a:ext cx="24076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8" name="Google Shape;529;p40"/>
          <p:cNvSpPr/>
          <p:nvPr/>
        </p:nvSpPr>
        <p:spPr>
          <a:xfrm>
            <a:off x="8746920" y="3891960"/>
            <a:ext cx="28684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79" name="Google Shape;530;p40"/>
          <p:cNvSpPr/>
          <p:nvPr/>
        </p:nvSpPr>
        <p:spPr>
          <a:xfrm>
            <a:off x="6338880" y="4587120"/>
            <a:ext cx="24076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80" name="Google Shape;531;p40"/>
          <p:cNvSpPr/>
          <p:nvPr/>
        </p:nvSpPr>
        <p:spPr>
          <a:xfrm>
            <a:off x="8746920" y="4587120"/>
            <a:ext cx="28684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81" name="Google Shape;532;p40"/>
          <p:cNvSpPr/>
          <p:nvPr/>
        </p:nvSpPr>
        <p:spPr>
          <a:xfrm>
            <a:off x="6338880" y="5282640"/>
            <a:ext cx="24076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82" name="Google Shape;533;p40"/>
          <p:cNvSpPr/>
          <p:nvPr/>
        </p:nvSpPr>
        <p:spPr>
          <a:xfrm>
            <a:off x="8746920" y="5282640"/>
            <a:ext cx="28684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83" name="Google Shape;534;p40"/>
          <p:cNvSpPr/>
          <p:nvPr/>
        </p:nvSpPr>
        <p:spPr>
          <a:xfrm>
            <a:off x="6338880" y="5977800"/>
            <a:ext cx="24076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84" name="Google Shape;535;p40"/>
          <p:cNvSpPr/>
          <p:nvPr/>
        </p:nvSpPr>
        <p:spPr>
          <a:xfrm>
            <a:off x="8746920" y="5977800"/>
            <a:ext cx="286848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85" name="Google Shape;536;p40"/>
          <p:cNvSpPr/>
          <p:nvPr/>
        </p:nvSpPr>
        <p:spPr>
          <a:xfrm>
            <a:off x="571680" y="17064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Model Training Configuration</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386" name="Google Shape;541;p41"/>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387" name="Google Shape;542;p41"/>
          <p:cNvSpPr/>
          <p:nvPr/>
        </p:nvSpPr>
        <p:spPr>
          <a:xfrm>
            <a:off x="2600640" y="2877480"/>
            <a:ext cx="699048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07. Evaluation &amp; Testing</a:t>
            </a:r>
            <a:endParaRPr b="0" lang="en-US" sz="4800" spc="-1" strike="noStrike">
              <a:solidFill>
                <a:srgbClr val="ffffff"/>
              </a:solidFill>
              <a:latin typeface="Arial"/>
            </a:endParaRPr>
          </a:p>
        </p:txBody>
      </p:sp>
      <p:sp>
        <p:nvSpPr>
          <p:cNvPr id="388" name="Google Shape;543;p41"/>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Rigorous validation to ensure the model performs accurately and reliably in real-world scenarios.</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389" name="Google Shape;548;p42" descr="image.png"/>
          <p:cNvPicPr/>
          <p:nvPr/>
        </p:nvPicPr>
        <p:blipFill>
          <a:blip r:embed="rId1"/>
          <a:stretch/>
        </p:blipFill>
        <p:spPr>
          <a:xfrm>
            <a:off x="571680" y="1890720"/>
            <a:ext cx="3428640" cy="3981240"/>
          </a:xfrm>
          <a:prstGeom prst="rect">
            <a:avLst/>
          </a:prstGeom>
          <a:ln w="0">
            <a:noFill/>
          </a:ln>
        </p:spPr>
      </p:pic>
      <p:pic>
        <p:nvPicPr>
          <p:cNvPr id="390" name="Google Shape;549;p42" descr="image.png"/>
          <p:cNvPicPr/>
          <p:nvPr/>
        </p:nvPicPr>
        <p:blipFill>
          <a:blip r:embed="rId2"/>
          <a:stretch/>
        </p:blipFill>
        <p:spPr>
          <a:xfrm>
            <a:off x="4381560" y="1890720"/>
            <a:ext cx="3428640" cy="3981240"/>
          </a:xfrm>
          <a:prstGeom prst="rect">
            <a:avLst/>
          </a:prstGeom>
          <a:ln w="0">
            <a:noFill/>
          </a:ln>
        </p:spPr>
      </p:pic>
      <p:pic>
        <p:nvPicPr>
          <p:cNvPr id="391" name="Google Shape;550;p42" descr="image.png"/>
          <p:cNvPicPr/>
          <p:nvPr/>
        </p:nvPicPr>
        <p:blipFill>
          <a:blip r:embed="rId3"/>
          <a:stretch/>
        </p:blipFill>
        <p:spPr>
          <a:xfrm>
            <a:off x="8191440" y="1890720"/>
            <a:ext cx="3428640" cy="3981240"/>
          </a:xfrm>
          <a:prstGeom prst="rect">
            <a:avLst/>
          </a:prstGeom>
          <a:ln w="0">
            <a:noFill/>
          </a:ln>
        </p:spPr>
      </p:pic>
      <p:sp>
        <p:nvSpPr>
          <p:cNvPr id="392" name="Google Shape;551;p42"/>
          <p:cNvSpPr/>
          <p:nvPr/>
        </p:nvSpPr>
        <p:spPr>
          <a:xfrm>
            <a:off x="1130760" y="3062160"/>
            <a:ext cx="230976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Functional Testing</a:t>
            </a:r>
            <a:endParaRPr b="0" lang="en-US" sz="2100" spc="-1" strike="noStrike">
              <a:solidFill>
                <a:srgbClr val="ffffff"/>
              </a:solidFill>
              <a:latin typeface="Arial"/>
            </a:endParaRPr>
          </a:p>
        </p:txBody>
      </p:sp>
      <p:sp>
        <p:nvSpPr>
          <p:cNvPr id="393" name="Google Shape;552;p42"/>
          <p:cNvSpPr/>
          <p:nvPr/>
        </p:nvSpPr>
        <p:spPr>
          <a:xfrm>
            <a:off x="866880" y="3548160"/>
            <a:ext cx="2838240" cy="219420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Verified core application mechanics: successful image uploads, strict file format validation, accurate bounding box generation, and display logic.</a:t>
            </a:r>
            <a:endParaRPr b="0" lang="en-US" sz="1500" spc="-1" strike="noStrike">
              <a:solidFill>
                <a:srgbClr val="ffffff"/>
              </a:solidFill>
              <a:latin typeface="Arial"/>
            </a:endParaRPr>
          </a:p>
        </p:txBody>
      </p:sp>
      <p:sp>
        <p:nvSpPr>
          <p:cNvPr id="394" name="Google Shape;553;p42"/>
          <p:cNvSpPr/>
          <p:nvPr/>
        </p:nvSpPr>
        <p:spPr>
          <a:xfrm>
            <a:off x="4896000" y="3062160"/>
            <a:ext cx="240012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Integration Testing</a:t>
            </a:r>
            <a:endParaRPr b="0" lang="en-US" sz="2100" spc="-1" strike="noStrike">
              <a:solidFill>
                <a:srgbClr val="ffffff"/>
              </a:solidFill>
              <a:latin typeface="Arial"/>
            </a:endParaRPr>
          </a:p>
        </p:txBody>
      </p:sp>
      <p:sp>
        <p:nvSpPr>
          <p:cNvPr id="395" name="Google Shape;554;p42"/>
          <p:cNvSpPr/>
          <p:nvPr/>
        </p:nvSpPr>
        <p:spPr>
          <a:xfrm>
            <a:off x="4676760" y="3548160"/>
            <a:ext cx="2838240" cy="18284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Ensured completely seamless communication between the Streamlit front-end UI and the YOLOv8 Python backend inference pipeline.</a:t>
            </a:r>
            <a:endParaRPr b="0" lang="en-US" sz="1500" spc="-1" strike="noStrike">
              <a:solidFill>
                <a:srgbClr val="ffffff"/>
              </a:solidFill>
              <a:latin typeface="Arial"/>
            </a:endParaRPr>
          </a:p>
        </p:txBody>
      </p:sp>
      <p:sp>
        <p:nvSpPr>
          <p:cNvPr id="396" name="Google Shape;555;p42"/>
          <p:cNvSpPr/>
          <p:nvPr/>
        </p:nvSpPr>
        <p:spPr>
          <a:xfrm>
            <a:off x="8465760" y="3062160"/>
            <a:ext cx="288000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User Acceptance (UAT)</a:t>
            </a:r>
            <a:endParaRPr b="0" lang="en-US" sz="2100" spc="-1" strike="noStrike">
              <a:solidFill>
                <a:srgbClr val="ffffff"/>
              </a:solidFill>
              <a:latin typeface="Arial"/>
            </a:endParaRPr>
          </a:p>
        </p:txBody>
      </p:sp>
      <p:sp>
        <p:nvSpPr>
          <p:cNvPr id="397" name="Google Shape;556;p42"/>
          <p:cNvSpPr/>
          <p:nvPr/>
        </p:nvSpPr>
        <p:spPr>
          <a:xfrm>
            <a:off x="8486640" y="3548160"/>
            <a:ext cx="2838240" cy="182844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Test images were independently uploaded and reviewed by the team to confirm predicted cleanliness levels aligned with visual realities.</a:t>
            </a:r>
            <a:endParaRPr b="0" lang="en-US" sz="1500" spc="-1" strike="noStrike">
              <a:solidFill>
                <a:srgbClr val="ffffff"/>
              </a:solidFill>
              <a:latin typeface="Arial"/>
            </a:endParaRPr>
          </a:p>
        </p:txBody>
      </p:sp>
      <p:pic>
        <p:nvPicPr>
          <p:cNvPr id="398" name="Google Shape;557;p42" descr="image.png"/>
          <p:cNvPicPr/>
          <p:nvPr/>
        </p:nvPicPr>
        <p:blipFill>
          <a:blip r:embed="rId4"/>
          <a:stretch/>
        </p:blipFill>
        <p:spPr>
          <a:xfrm>
            <a:off x="1976400" y="2281320"/>
            <a:ext cx="618840" cy="495000"/>
          </a:xfrm>
          <a:prstGeom prst="rect">
            <a:avLst/>
          </a:prstGeom>
          <a:ln w="0">
            <a:noFill/>
          </a:ln>
        </p:spPr>
      </p:pic>
      <p:pic>
        <p:nvPicPr>
          <p:cNvPr id="399" name="Google Shape;558;p42" descr="image.png"/>
          <p:cNvPicPr/>
          <p:nvPr/>
        </p:nvPicPr>
        <p:blipFill>
          <a:blip r:embed="rId5"/>
          <a:stretch/>
        </p:blipFill>
        <p:spPr>
          <a:xfrm>
            <a:off x="5786280" y="2281320"/>
            <a:ext cx="618840" cy="495000"/>
          </a:xfrm>
          <a:prstGeom prst="rect">
            <a:avLst/>
          </a:prstGeom>
          <a:ln w="0">
            <a:noFill/>
          </a:ln>
        </p:spPr>
      </p:pic>
      <p:pic>
        <p:nvPicPr>
          <p:cNvPr id="400" name="Google Shape;559;p42" descr="image.png"/>
          <p:cNvPicPr/>
          <p:nvPr/>
        </p:nvPicPr>
        <p:blipFill>
          <a:blip r:embed="rId6"/>
          <a:stretch/>
        </p:blipFill>
        <p:spPr>
          <a:xfrm>
            <a:off x="9596520" y="2281320"/>
            <a:ext cx="618840" cy="495000"/>
          </a:xfrm>
          <a:prstGeom prst="rect">
            <a:avLst/>
          </a:prstGeom>
          <a:ln w="0">
            <a:noFill/>
          </a:ln>
        </p:spPr>
      </p:pic>
      <p:sp>
        <p:nvSpPr>
          <p:cNvPr id="401" name="Google Shape;560;p42"/>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Comprehensive Testing Strategy</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402" name="Google Shape;565;p43" descr="image.png"/>
          <p:cNvPicPr/>
          <p:nvPr/>
        </p:nvPicPr>
        <p:blipFill>
          <a:blip r:embed="rId1"/>
          <a:stretch/>
        </p:blipFill>
        <p:spPr>
          <a:xfrm>
            <a:off x="571680" y="1476360"/>
            <a:ext cx="11048760" cy="4809600"/>
          </a:xfrm>
          <a:prstGeom prst="rect">
            <a:avLst/>
          </a:prstGeom>
          <a:ln w="0">
            <a:noFill/>
          </a:ln>
        </p:spPr>
      </p:pic>
      <p:sp>
        <p:nvSpPr>
          <p:cNvPr id="403" name="Google Shape;566;p43"/>
          <p:cNvSpPr/>
          <p:nvPr/>
        </p:nvSpPr>
        <p:spPr>
          <a:xfrm>
            <a:off x="1123920" y="4809960"/>
            <a:ext cx="9943920" cy="73188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i="1" lang="en-US" sz="1500" spc="-1" strike="noStrike">
                <a:solidFill>
                  <a:srgbClr val="94a3b8"/>
                </a:solidFill>
                <a:latin typeface="Inter"/>
                <a:ea typeface="Inter"/>
              </a:rPr>
              <a:t>The perfect 100% recall indicates the model successfully detected all relevant hand regions. While precision reflects minor false positives, mAP@50 demonstrates strong, highly viable detection quality for a custom dataset.</a:t>
            </a:r>
            <a:endParaRPr b="0" lang="en-US" sz="1500" spc="-1" strike="noStrike">
              <a:solidFill>
                <a:srgbClr val="ffffff"/>
              </a:solidFill>
              <a:latin typeface="Arial"/>
            </a:endParaRPr>
          </a:p>
        </p:txBody>
      </p:sp>
      <p:sp>
        <p:nvSpPr>
          <p:cNvPr id="404" name="Google Shape;567;p43"/>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Model Evaluation Results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405" name="Google Shape;572;p44" descr="image.png"/>
          <p:cNvPicPr/>
          <p:nvPr/>
        </p:nvPicPr>
        <p:blipFill>
          <a:blip r:embed="rId1"/>
          <a:stretch/>
        </p:blipFill>
        <p:spPr>
          <a:xfrm>
            <a:off x="6334200" y="1976400"/>
            <a:ext cx="5285880" cy="3809520"/>
          </a:xfrm>
          <a:prstGeom prst="rect">
            <a:avLst/>
          </a:prstGeom>
          <a:ln w="0">
            <a:noFill/>
          </a:ln>
        </p:spPr>
      </p:pic>
      <p:sp>
        <p:nvSpPr>
          <p:cNvPr id="406" name="Google Shape;573;p44"/>
          <p:cNvSpPr/>
          <p:nvPr/>
        </p:nvSpPr>
        <p:spPr>
          <a:xfrm>
            <a:off x="571680" y="197640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1" lang="en-US" sz="1500" spc="-1" strike="noStrike">
                <a:solidFill>
                  <a:srgbClr val="cbd5e1"/>
                </a:solidFill>
                <a:latin typeface="Inter"/>
                <a:ea typeface="Inter"/>
              </a:rPr>
              <a:t>1. Launch Application:</a:t>
            </a:r>
            <a:r>
              <a:rPr b="0" lang="en-US" sz="1500" spc="-1" strike="noStrike">
                <a:solidFill>
                  <a:srgbClr val="cbd5e1"/>
                </a:solidFill>
                <a:latin typeface="Inter"/>
                <a:ea typeface="Inter"/>
              </a:rPr>
              <a:t> The Streamlit app is initialized securely within the local development environment.</a:t>
            </a:r>
            <a:endParaRPr b="0" lang="en-US" sz="1500" spc="-1" strike="noStrike">
              <a:solidFill>
                <a:srgbClr val="ffffff"/>
              </a:solidFill>
              <a:latin typeface="Arial"/>
            </a:endParaRPr>
          </a:p>
        </p:txBody>
      </p:sp>
      <p:sp>
        <p:nvSpPr>
          <p:cNvPr id="407" name="Google Shape;574;p44"/>
          <p:cNvSpPr/>
          <p:nvPr/>
        </p:nvSpPr>
        <p:spPr>
          <a:xfrm>
            <a:off x="571680" y="277668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1" lang="en-US" sz="1500" spc="-1" strike="noStrike">
                <a:solidFill>
                  <a:srgbClr val="cbd5e1"/>
                </a:solidFill>
                <a:latin typeface="Inter"/>
                <a:ea typeface="Inter"/>
              </a:rPr>
              <a:t>2. Upload Test Image:</a:t>
            </a:r>
            <a:r>
              <a:rPr b="0" lang="en-US" sz="1500" spc="-1" strike="noStrike">
                <a:solidFill>
                  <a:srgbClr val="cbd5e1"/>
                </a:solidFill>
                <a:latin typeface="Inter"/>
                <a:ea typeface="Inter"/>
              </a:rPr>
              <a:t> Users upload UV hand images via a simple drag-and-drop mechanism (JPG/PNG/WEBP).</a:t>
            </a:r>
            <a:endParaRPr b="0" lang="en-US" sz="1500" spc="-1" strike="noStrike">
              <a:solidFill>
                <a:srgbClr val="ffffff"/>
              </a:solidFill>
              <a:latin typeface="Arial"/>
            </a:endParaRPr>
          </a:p>
        </p:txBody>
      </p:sp>
      <p:sp>
        <p:nvSpPr>
          <p:cNvPr id="408" name="Google Shape;575;p44"/>
          <p:cNvSpPr/>
          <p:nvPr/>
        </p:nvSpPr>
        <p:spPr>
          <a:xfrm>
            <a:off x="571680" y="357660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1" lang="en-US" sz="1500" spc="-1" strike="noStrike">
                <a:solidFill>
                  <a:srgbClr val="cbd5e1"/>
                </a:solidFill>
                <a:latin typeface="Inter"/>
                <a:ea typeface="Inter"/>
              </a:rPr>
              <a:t>3. Execute Detection:</a:t>
            </a:r>
            <a:r>
              <a:rPr b="0" lang="en-US" sz="1500" spc="-1" strike="noStrike">
                <a:solidFill>
                  <a:srgbClr val="cbd5e1"/>
                </a:solidFill>
                <a:latin typeface="Inter"/>
                <a:ea typeface="Inter"/>
              </a:rPr>
              <a:t> The image is instantly passed to the memory-resident YOLOv8 model.</a:t>
            </a:r>
            <a:endParaRPr b="0" lang="en-US" sz="1500" spc="-1" strike="noStrike">
              <a:solidFill>
                <a:srgbClr val="ffffff"/>
              </a:solidFill>
              <a:latin typeface="Arial"/>
            </a:endParaRPr>
          </a:p>
        </p:txBody>
      </p:sp>
      <p:sp>
        <p:nvSpPr>
          <p:cNvPr id="409" name="Google Shape;576;p44"/>
          <p:cNvSpPr/>
          <p:nvPr/>
        </p:nvSpPr>
        <p:spPr>
          <a:xfrm>
            <a:off x="571680" y="437688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1" lang="en-US" sz="1500" spc="-1" strike="noStrike">
                <a:solidFill>
                  <a:srgbClr val="cbd5e1"/>
                </a:solidFill>
                <a:latin typeface="Inter"/>
                <a:ea typeface="Inter"/>
              </a:rPr>
              <a:t>4. Display Results:</a:t>
            </a:r>
            <a:r>
              <a:rPr b="0" lang="en-US" sz="1500" spc="-1" strike="noStrike">
                <a:solidFill>
                  <a:srgbClr val="cbd5e1"/>
                </a:solidFill>
                <a:latin typeface="Inter"/>
                <a:ea typeface="Inter"/>
              </a:rPr>
              <a:t> The UI dynamically renders bounding boxes, class labels (Clean/Partial/Dirty), and confidence scores directly over the original image.</a:t>
            </a:r>
            <a:endParaRPr b="0" lang="en-US" sz="1500" spc="-1" strike="noStrike">
              <a:solidFill>
                <a:srgbClr val="ffffff"/>
              </a:solidFill>
              <a:latin typeface="Arial"/>
            </a:endParaRPr>
          </a:p>
        </p:txBody>
      </p:sp>
      <p:pic>
        <p:nvPicPr>
          <p:cNvPr id="410" name="Google Shape;577;p44" descr="image.png"/>
          <p:cNvPicPr/>
          <p:nvPr/>
        </p:nvPicPr>
        <p:blipFill>
          <a:blip r:embed="rId2"/>
          <a:stretch/>
        </p:blipFill>
        <p:spPr>
          <a:xfrm>
            <a:off x="6334200" y="1976400"/>
            <a:ext cx="5285880" cy="3809520"/>
          </a:xfrm>
          <a:prstGeom prst="rect">
            <a:avLst/>
          </a:prstGeom>
          <a:ln w="0">
            <a:noFill/>
          </a:ln>
        </p:spPr>
      </p:pic>
      <p:sp>
        <p:nvSpPr>
          <p:cNvPr id="411" name="Google Shape;578;p44"/>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Interface Demo Walkthrough</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12" name="Google Shape;583;p45"/>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13" name="Google Shape;584;p45"/>
          <p:cNvSpPr/>
          <p:nvPr/>
        </p:nvSpPr>
        <p:spPr>
          <a:xfrm>
            <a:off x="2455560" y="2877480"/>
            <a:ext cx="728064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08. Project Management</a:t>
            </a:r>
            <a:endParaRPr b="0" lang="en-US" sz="4800" spc="-1" strike="noStrike">
              <a:solidFill>
                <a:srgbClr val="ffffff"/>
              </a:solidFill>
              <a:latin typeface="Arial"/>
            </a:endParaRPr>
          </a:p>
        </p:txBody>
      </p:sp>
      <p:sp>
        <p:nvSpPr>
          <p:cNvPr id="414" name="Google Shape;585;p45"/>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Anticipating risks and maintaining extreme budget efficiency throughout the project lifecycle.</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15" name="Google Shape;590;p46"/>
          <p:cNvSpPr/>
          <p:nvPr/>
        </p:nvSpPr>
        <p:spPr>
          <a:xfrm>
            <a:off x="571680" y="1661040"/>
            <a:ext cx="11048760" cy="4440240"/>
          </a:xfrm>
          <a:prstGeom prst="roundRect">
            <a:avLst>
              <a:gd name="adj" fmla="val 0"/>
            </a:avLst>
          </a:prstGeom>
          <a:solidFill>
            <a:srgbClr val="1e293b"/>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graphicFrame>
        <p:nvGraphicFramePr>
          <p:cNvPr id="416" name="Google Shape;591;p46"/>
          <p:cNvGraphicFramePr/>
          <p:nvPr/>
        </p:nvGraphicFramePr>
        <p:xfrm>
          <a:off x="571680" y="1661040"/>
          <a:ext cx="11039040" cy="4439880"/>
        </p:xfrm>
        <a:graphic>
          <a:graphicData uri="http://schemas.openxmlformats.org/drawingml/2006/table">
            <a:tbl>
              <a:tblPr/>
              <a:tblGrid>
                <a:gridCol w="2572560"/>
                <a:gridCol w="1190520"/>
                <a:gridCol w="7275960"/>
              </a:tblGrid>
              <a:tr h="887760">
                <a:tc>
                  <a:txBody>
                    <a:bodyPr lIns="63360" rIns="63360" tIns="25200" bIns="25200" anchor="ctr">
                      <a:noAutofit/>
                    </a:bodyPr>
                    <a:p>
                      <a:pPr>
                        <a:lnSpc>
                          <a:spcPct val="100000"/>
                        </a:lnSpc>
                        <a:tabLst>
                          <a:tab algn="l" pos="0"/>
                        </a:tabLst>
                      </a:pPr>
                      <a:r>
                        <a:rPr b="0" lang="en-US" sz="1650" spc="-1" strike="noStrike">
                          <a:solidFill>
                            <a:srgbClr val="38bdf8"/>
                          </a:solidFill>
                          <a:latin typeface="Outfit SemiBold"/>
                          <a:ea typeface="Outfit SemiBold"/>
                        </a:rPr>
                        <a:t>Identified Risk</a:t>
                      </a:r>
                      <a:endParaRPr b="0" lang="en-US" sz="1650" spc="-1" strike="noStrike">
                        <a:solidFill>
                          <a:srgbClr val="ffffff"/>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0f172a"/>
                    </a:solidFill>
                  </a:tcPr>
                </a:tc>
                <a:tc>
                  <a:txBody>
                    <a:bodyPr lIns="63360" rIns="63360" tIns="25200" bIns="25200" anchor="ctr">
                      <a:noAutofit/>
                    </a:bodyPr>
                    <a:p>
                      <a:pPr>
                        <a:lnSpc>
                          <a:spcPct val="100000"/>
                        </a:lnSpc>
                        <a:tabLst>
                          <a:tab algn="l" pos="0"/>
                        </a:tabLst>
                      </a:pPr>
                      <a:r>
                        <a:rPr b="0" lang="en-US" sz="1650" spc="-1" strike="noStrike">
                          <a:solidFill>
                            <a:srgbClr val="38bdf8"/>
                          </a:solidFill>
                          <a:latin typeface="Outfit SemiBold"/>
                          <a:ea typeface="Outfit SemiBold"/>
                        </a:rPr>
                        <a:t>Impact</a:t>
                      </a:r>
                      <a:endParaRPr b="0" lang="en-US" sz="1650" spc="-1" strike="noStrike">
                        <a:solidFill>
                          <a:srgbClr val="ffffff"/>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0f172a"/>
                    </a:solidFill>
                  </a:tcPr>
                </a:tc>
                <a:tc>
                  <a:txBody>
                    <a:bodyPr lIns="63360" rIns="63360" tIns="25200" bIns="25200" anchor="ctr">
                      <a:noAutofit/>
                    </a:bodyPr>
                    <a:p>
                      <a:pPr>
                        <a:lnSpc>
                          <a:spcPct val="100000"/>
                        </a:lnSpc>
                        <a:tabLst>
                          <a:tab algn="l" pos="0"/>
                        </a:tabLst>
                      </a:pPr>
                      <a:r>
                        <a:rPr b="0" lang="en-US" sz="1650" spc="-1" strike="noStrike">
                          <a:solidFill>
                            <a:srgbClr val="38bdf8"/>
                          </a:solidFill>
                          <a:latin typeface="Outfit SemiBold"/>
                          <a:ea typeface="Outfit SemiBold"/>
                        </a:rPr>
                        <a:t>Mitigation Strategy</a:t>
                      </a:r>
                      <a:endParaRPr b="0" lang="en-US" sz="1650" spc="-1" strike="noStrike">
                        <a:solidFill>
                          <a:srgbClr val="ffffff"/>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0f172a"/>
                    </a:solidFill>
                  </a:tcPr>
                </a:tc>
              </a:tr>
              <a:tr h="887760">
                <a:tc>
                  <a:txBody>
                    <a:bodyPr lIns="63360" rIns="63360" tIns="25200" bIns="25200" anchor="ctr">
                      <a:noAutofit/>
                    </a:bodyPr>
                    <a:p>
                      <a:pPr>
                        <a:lnSpc>
                          <a:spcPct val="100000"/>
                        </a:lnSpc>
                        <a:tabLst>
                          <a:tab algn="l" pos="0"/>
                        </a:tabLst>
                      </a:pPr>
                      <a:r>
                        <a:rPr b="0" lang="en-US" sz="1500" spc="-1" strike="noStrike">
                          <a:solidFill>
                            <a:schemeClr val="dk1"/>
                          </a:solidFill>
                          <a:latin typeface="Inter SemiBold"/>
                          <a:ea typeface="Inter SemiBold"/>
                        </a:rPr>
                        <a:t>Insufficient Dataset Size</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rgbClr val="f87171"/>
                          </a:solidFill>
                          <a:latin typeface="Inter"/>
                          <a:ea typeface="Inter"/>
                        </a:rPr>
                        <a:t>High</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Collect additional images dynamically and apply heavy algorithmic augmentation.</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r>
              <a:tr h="887760">
                <a:tc>
                  <a:txBody>
                    <a:bodyPr lIns="63360" rIns="63360" tIns="25200" bIns="25200" anchor="ctr">
                      <a:noAutofit/>
                    </a:bodyPr>
                    <a:p>
                      <a:pPr>
                        <a:lnSpc>
                          <a:spcPct val="100000"/>
                        </a:lnSpc>
                        <a:tabLst>
                          <a:tab algn="l" pos="0"/>
                        </a:tabLst>
                      </a:pPr>
                      <a:r>
                        <a:rPr b="0" lang="en-US" sz="1500" spc="-1" strike="noStrike">
                          <a:solidFill>
                            <a:schemeClr val="dk1"/>
                          </a:solidFill>
                          <a:latin typeface="Inter SemiBold"/>
                          <a:ea typeface="Inter SemiBold"/>
                        </a:rPr>
                        <a:t>Poor Annotation Quality</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c>
                  <a:txBody>
                    <a:bodyPr lIns="63360" rIns="63360" tIns="25200" bIns="25200" anchor="ctr">
                      <a:noAutofit/>
                    </a:bodyPr>
                    <a:p>
                      <a:pPr>
                        <a:lnSpc>
                          <a:spcPct val="100000"/>
                        </a:lnSpc>
                        <a:tabLst>
                          <a:tab algn="l" pos="0"/>
                        </a:tabLst>
                      </a:pPr>
                      <a:r>
                        <a:rPr b="0" lang="en-US" sz="1500" spc="-1" strike="noStrike">
                          <a:solidFill>
                            <a:srgbClr val="f87171"/>
                          </a:solidFill>
                          <a:latin typeface="Inter"/>
                          <a:ea typeface="Inter"/>
                        </a:rPr>
                        <a:t>High</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Implement strict manual verification protocols for all auto-generated labels.</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r>
              <a:tr h="887760">
                <a:tc>
                  <a:txBody>
                    <a:bodyPr lIns="63360" rIns="63360" tIns="25200" bIns="25200" anchor="ctr">
                      <a:noAutofit/>
                    </a:bodyPr>
                    <a:p>
                      <a:pPr>
                        <a:lnSpc>
                          <a:spcPct val="100000"/>
                        </a:lnSpc>
                        <a:tabLst>
                          <a:tab algn="l" pos="0"/>
                        </a:tabLst>
                      </a:pPr>
                      <a:r>
                        <a:rPr b="0" lang="en-US" sz="1500" spc="-1" strike="noStrike">
                          <a:solidFill>
                            <a:schemeClr val="dk1"/>
                          </a:solidFill>
                          <a:latin typeface="Inter SemiBold"/>
                          <a:ea typeface="Inter SemiBold"/>
                        </a:rPr>
                        <a:t>Hardware Limitations</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rgbClr val="fcd34d"/>
                          </a:solidFill>
                          <a:latin typeface="Inter"/>
                          <a:ea typeface="Inter"/>
                        </a:rPr>
                        <a:t>Medium</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Utilize CUDA GPU-enabled training environments to drastically cut render times.</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cfd7e7"/>
                    </a:solidFill>
                  </a:tcPr>
                </a:tc>
              </a:tr>
              <a:tr h="887760">
                <a:tc>
                  <a:txBody>
                    <a:bodyPr lIns="63360" rIns="63360" tIns="25200" bIns="25200" anchor="ctr">
                      <a:noAutofit/>
                    </a:bodyPr>
                    <a:p>
                      <a:pPr>
                        <a:lnSpc>
                          <a:spcPct val="100000"/>
                        </a:lnSpc>
                        <a:tabLst>
                          <a:tab algn="l" pos="0"/>
                        </a:tabLst>
                      </a:pPr>
                      <a:r>
                        <a:rPr b="0" lang="en-US" sz="1500" spc="-1" strike="noStrike">
                          <a:solidFill>
                            <a:schemeClr val="dk1"/>
                          </a:solidFill>
                          <a:latin typeface="Inter SemiBold"/>
                          <a:ea typeface="Inter SemiBold"/>
                        </a:rPr>
                        <a:t>Integration Failures</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c>
                  <a:txBody>
                    <a:bodyPr lIns="63360" rIns="63360" tIns="25200" bIns="25200" anchor="ctr">
                      <a:noAutofit/>
                    </a:bodyPr>
                    <a:p>
                      <a:pPr>
                        <a:lnSpc>
                          <a:spcPct val="100000"/>
                        </a:lnSpc>
                        <a:tabLst>
                          <a:tab algn="l" pos="0"/>
                        </a:tabLst>
                      </a:pPr>
                      <a:r>
                        <a:rPr b="0" lang="en-US" sz="1500" spc="-1" strike="noStrike">
                          <a:solidFill>
                            <a:srgbClr val="fcd34d"/>
                          </a:solidFill>
                          <a:latin typeface="Inter"/>
                          <a:ea typeface="Inter"/>
                        </a:rPr>
                        <a:t>Medium</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c>
                  <a:txBody>
                    <a:bodyPr lIns="63360" rIns="63360" tIns="25200" bIns="25200" anchor="ctr">
                      <a:noAutofit/>
                    </a:bodyPr>
                    <a:p>
                      <a:pPr>
                        <a:lnSpc>
                          <a:spcPct val="100000"/>
                        </a:lnSpc>
                        <a:tabLst>
                          <a:tab algn="l" pos="0"/>
                        </a:tabLst>
                      </a:pPr>
                      <a:r>
                        <a:rPr b="0" lang="en-US" sz="1500" spc="-1" strike="noStrike">
                          <a:solidFill>
                            <a:schemeClr val="dk1"/>
                          </a:solidFill>
                          <a:latin typeface="Inter"/>
                          <a:ea typeface="Inter"/>
                        </a:rPr>
                        <a:t>Conduct incremental integration testing at the end of every sprint cycle.</a:t>
                      </a:r>
                      <a:endParaRPr b="0" lang="en-US" sz="1500" spc="-1" strike="noStrike">
                        <a:solidFill>
                          <a:srgbClr val="000000"/>
                        </a:solidFill>
                        <a:latin typeface="Arial"/>
                      </a:endParaRPr>
                    </a:p>
                  </a:txBody>
                  <a:tcPr anchor="ctr" marL="63360" marR="6336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8ecf4"/>
                    </a:solidFill>
                  </a:tcPr>
                </a:tc>
              </a:tr>
            </a:tbl>
          </a:graphicData>
        </a:graphic>
      </p:graphicFrame>
      <p:sp>
        <p:nvSpPr>
          <p:cNvPr id="417" name="Google Shape;592;p46"/>
          <p:cNvSpPr/>
          <p:nvPr/>
        </p:nvSpPr>
        <p:spPr>
          <a:xfrm>
            <a:off x="576360" y="2377440"/>
            <a:ext cx="2572200" cy="18720"/>
          </a:xfrm>
          <a:prstGeom prst="rect">
            <a:avLst/>
          </a:prstGeom>
          <a:solidFill>
            <a:srgbClr val="38bdf8"/>
          </a:solidFill>
          <a:ln w="0">
            <a:noFill/>
          </a:ln>
        </p:spPr>
        <p:style>
          <a:lnRef idx="0"/>
          <a:fillRef idx="0"/>
          <a:effectRef idx="0"/>
          <a:fontRef idx="minor"/>
        </p:style>
        <p:txBody>
          <a:bodyPr tIns="9360" bIns="936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18" name="Google Shape;593;p46"/>
          <p:cNvSpPr/>
          <p:nvPr/>
        </p:nvSpPr>
        <p:spPr>
          <a:xfrm>
            <a:off x="3148920" y="2377440"/>
            <a:ext cx="1190160" cy="18720"/>
          </a:xfrm>
          <a:prstGeom prst="rect">
            <a:avLst/>
          </a:prstGeom>
          <a:solidFill>
            <a:srgbClr val="38bdf8"/>
          </a:solidFill>
          <a:ln w="0">
            <a:noFill/>
          </a:ln>
        </p:spPr>
        <p:style>
          <a:lnRef idx="0"/>
          <a:fillRef idx="0"/>
          <a:effectRef idx="0"/>
          <a:fontRef idx="minor"/>
        </p:style>
        <p:txBody>
          <a:bodyPr tIns="9360" bIns="936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19" name="Google Shape;594;p46"/>
          <p:cNvSpPr/>
          <p:nvPr/>
        </p:nvSpPr>
        <p:spPr>
          <a:xfrm>
            <a:off x="4339440" y="2377440"/>
            <a:ext cx="7275960" cy="18720"/>
          </a:xfrm>
          <a:prstGeom prst="rect">
            <a:avLst/>
          </a:prstGeom>
          <a:solidFill>
            <a:srgbClr val="38bdf8"/>
          </a:solidFill>
          <a:ln w="0">
            <a:noFill/>
          </a:ln>
        </p:spPr>
        <p:style>
          <a:lnRef idx="0"/>
          <a:fillRef idx="0"/>
          <a:effectRef idx="0"/>
          <a:fontRef idx="minor"/>
        </p:style>
        <p:txBody>
          <a:bodyPr tIns="9360" bIns="936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0" name="Google Shape;595;p46"/>
          <p:cNvSpPr/>
          <p:nvPr/>
        </p:nvSpPr>
        <p:spPr>
          <a:xfrm>
            <a:off x="576360" y="3391920"/>
            <a:ext cx="257220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1" name="Google Shape;596;p46"/>
          <p:cNvSpPr/>
          <p:nvPr/>
        </p:nvSpPr>
        <p:spPr>
          <a:xfrm>
            <a:off x="3148920" y="3391920"/>
            <a:ext cx="119016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2" name="Google Shape;597;p46"/>
          <p:cNvSpPr/>
          <p:nvPr/>
        </p:nvSpPr>
        <p:spPr>
          <a:xfrm>
            <a:off x="4339440" y="3391920"/>
            <a:ext cx="727596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3" name="Google Shape;598;p46"/>
          <p:cNvSpPr/>
          <p:nvPr/>
        </p:nvSpPr>
        <p:spPr>
          <a:xfrm>
            <a:off x="576360" y="4392000"/>
            <a:ext cx="257220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4" name="Google Shape;599;p46"/>
          <p:cNvSpPr/>
          <p:nvPr/>
        </p:nvSpPr>
        <p:spPr>
          <a:xfrm>
            <a:off x="3148920" y="4392000"/>
            <a:ext cx="119016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5" name="Google Shape;600;p46"/>
          <p:cNvSpPr/>
          <p:nvPr/>
        </p:nvSpPr>
        <p:spPr>
          <a:xfrm>
            <a:off x="4339440" y="4392000"/>
            <a:ext cx="727596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6" name="Google Shape;601;p46"/>
          <p:cNvSpPr/>
          <p:nvPr/>
        </p:nvSpPr>
        <p:spPr>
          <a:xfrm>
            <a:off x="576360" y="5392080"/>
            <a:ext cx="257220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7" name="Google Shape;602;p46"/>
          <p:cNvSpPr/>
          <p:nvPr/>
        </p:nvSpPr>
        <p:spPr>
          <a:xfrm>
            <a:off x="3148920" y="5392080"/>
            <a:ext cx="119016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8" name="Google Shape;603;p46"/>
          <p:cNvSpPr/>
          <p:nvPr/>
        </p:nvSpPr>
        <p:spPr>
          <a:xfrm>
            <a:off x="4339440" y="5392080"/>
            <a:ext cx="7275960" cy="9000"/>
          </a:xfrm>
          <a:prstGeom prst="rect">
            <a:avLst/>
          </a:prstGeom>
          <a:solidFill>
            <a:srgbClr val="33415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29" name="Google Shape;604;p46"/>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Risk Assessment &amp; Mitigation</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30" name="Google Shape;609;p47"/>
          <p:cNvSpPr/>
          <p:nvPr/>
        </p:nvSpPr>
        <p:spPr>
          <a:xfrm>
            <a:off x="571680" y="2266920"/>
            <a:ext cx="5285880" cy="1599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10500" spc="-1" strike="noStrike">
                <a:solidFill>
                  <a:srgbClr val="38bdf8"/>
                </a:solidFill>
                <a:latin typeface="Outfit"/>
                <a:ea typeface="Outfit"/>
              </a:rPr>
              <a:t>£70</a:t>
            </a:r>
            <a:endParaRPr b="0" lang="en-US" sz="10500" spc="-1" strike="noStrike">
              <a:solidFill>
                <a:srgbClr val="ffffff"/>
              </a:solidFill>
              <a:latin typeface="Arial"/>
            </a:endParaRPr>
          </a:p>
        </p:txBody>
      </p:sp>
      <p:sp>
        <p:nvSpPr>
          <p:cNvPr id="431" name="Google Shape;610;p47"/>
          <p:cNvSpPr/>
          <p:nvPr/>
        </p:nvSpPr>
        <p:spPr>
          <a:xfrm>
            <a:off x="571680" y="3695760"/>
            <a:ext cx="5285880" cy="47520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950" spc="-1" strike="noStrike">
                <a:solidFill>
                  <a:srgbClr val="34d399"/>
                </a:solidFill>
                <a:latin typeface="Inter SemiBold"/>
                <a:ea typeface="Inter SemiBold"/>
              </a:rPr>
              <a:t>Total Expenditure</a:t>
            </a:r>
            <a:endParaRPr b="0" lang="en-US" sz="1950" spc="-1" strike="noStrike">
              <a:solidFill>
                <a:srgbClr val="ffffff"/>
              </a:solidFill>
              <a:latin typeface="Arial"/>
            </a:endParaRPr>
          </a:p>
        </p:txBody>
      </p:sp>
      <p:sp>
        <p:nvSpPr>
          <p:cNvPr id="432" name="Google Shape;611;p47"/>
          <p:cNvSpPr/>
          <p:nvPr/>
        </p:nvSpPr>
        <p:spPr>
          <a:xfrm>
            <a:off x="6334200" y="2266920"/>
            <a:ext cx="5550480" cy="3204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Maximizing Open-Source Capital</a:t>
            </a:r>
            <a:endParaRPr b="0" lang="en-US" sz="2100" spc="-1" strike="noStrike">
              <a:solidFill>
                <a:srgbClr val="ffffff"/>
              </a:solidFill>
              <a:latin typeface="Arial"/>
            </a:endParaRPr>
          </a:p>
        </p:txBody>
      </p:sp>
      <p:sp>
        <p:nvSpPr>
          <p:cNvPr id="433" name="Google Shape;612;p47"/>
          <p:cNvSpPr/>
          <p:nvPr/>
        </p:nvSpPr>
        <p:spPr>
          <a:xfrm>
            <a:off x="6334200" y="2752560"/>
            <a:ext cx="5285880" cy="73188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This project was executed with extreme budget efficiency by leveraging enterprise-grade open-source platforms.</a:t>
            </a:r>
            <a:endParaRPr b="0" lang="en-US" sz="1500" spc="-1" strike="noStrike">
              <a:solidFill>
                <a:srgbClr val="ffffff"/>
              </a:solidFill>
              <a:latin typeface="Arial"/>
            </a:endParaRPr>
          </a:p>
        </p:txBody>
      </p:sp>
      <p:sp>
        <p:nvSpPr>
          <p:cNvPr id="434" name="Google Shape;613;p47"/>
          <p:cNvSpPr/>
          <p:nvPr/>
        </p:nvSpPr>
        <p:spPr>
          <a:xfrm>
            <a:off x="6334200" y="3819600"/>
            <a:ext cx="5285880" cy="146340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Software costs for Roboflow, Python, Streamlit, and YOLOv8 were </a:t>
            </a:r>
            <a:r>
              <a:rPr b="1" lang="en-US" sz="1500" spc="-1" strike="noStrike">
                <a:solidFill>
                  <a:srgbClr val="cbd5e1"/>
                </a:solidFill>
                <a:latin typeface="Inter"/>
                <a:ea typeface="Inter"/>
              </a:rPr>
              <a:t>£0</a:t>
            </a:r>
            <a:r>
              <a:rPr b="0" lang="en-US" sz="1500" spc="-1" strike="noStrike">
                <a:solidFill>
                  <a:srgbClr val="cbd5e1"/>
                </a:solidFill>
                <a:latin typeface="Inter"/>
                <a:ea typeface="Inter"/>
              </a:rPr>
              <a:t>. Hardware utilized existing laptops and cameras. The only expenditures were £20 for a specialized UV Lamp, and £50 allocated for utilities and miscellaneous testing supplies.</a:t>
            </a:r>
            <a:endParaRPr b="0" lang="en-US" sz="1500" spc="-1" strike="noStrike">
              <a:solidFill>
                <a:srgbClr val="ffffff"/>
              </a:solidFill>
              <a:latin typeface="Arial"/>
            </a:endParaRPr>
          </a:p>
        </p:txBody>
      </p:sp>
      <p:sp>
        <p:nvSpPr>
          <p:cNvPr id="435" name="Google Shape;614;p47"/>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Project Cost Efficiency</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36" name="Google Shape;619;p48"/>
          <p:cNvSpPr/>
          <p:nvPr/>
        </p:nvSpPr>
        <p:spPr>
          <a:xfrm>
            <a:off x="5524560" y="2534760"/>
            <a:ext cx="1142640" cy="56880"/>
          </a:xfrm>
          <a:prstGeom prst="rect">
            <a:avLst/>
          </a:prstGeom>
          <a:solidFill>
            <a:srgbClr val="34d399"/>
          </a:solidFill>
          <a:ln w="0">
            <a:noFill/>
          </a:ln>
        </p:spPr>
        <p:style>
          <a:lnRef idx="0"/>
          <a:fillRef idx="0"/>
          <a:effectRef idx="0"/>
          <a:fontRef idx="minor"/>
        </p:style>
        <p:txBody>
          <a:bodyPr tIns="28440" bIns="2844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37" name="Google Shape;620;p48"/>
          <p:cNvSpPr/>
          <p:nvPr/>
        </p:nvSpPr>
        <p:spPr>
          <a:xfrm>
            <a:off x="2585520" y="2877480"/>
            <a:ext cx="7020360" cy="1462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4800" spc="-1" strike="noStrike">
                <a:solidFill>
                  <a:srgbClr val="38bdf8"/>
                </a:solidFill>
                <a:latin typeface="Outfit"/>
                <a:ea typeface="Outfit"/>
              </a:rPr>
              <a:t>09. Ethics &amp; Compliance</a:t>
            </a:r>
            <a:endParaRPr b="0" lang="en-US" sz="4800" spc="-1" strike="noStrike">
              <a:solidFill>
                <a:srgbClr val="ffffff"/>
              </a:solidFill>
              <a:latin typeface="Arial"/>
            </a:endParaRPr>
          </a:p>
        </p:txBody>
      </p:sp>
      <p:sp>
        <p:nvSpPr>
          <p:cNvPr id="438" name="Google Shape;621;p48"/>
          <p:cNvSpPr/>
          <p:nvPr/>
        </p:nvSpPr>
        <p:spPr>
          <a:xfrm>
            <a:off x="2286000" y="387756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tabLst>
                <a:tab algn="l" pos="0"/>
              </a:tabLst>
            </a:pPr>
            <a:r>
              <a:rPr b="0" lang="en-US" sz="1800" spc="-1" strike="noStrike">
                <a:solidFill>
                  <a:srgbClr val="cbd5e1"/>
                </a:solidFill>
                <a:latin typeface="Inter"/>
                <a:ea typeface="Inter"/>
              </a:rPr>
              <a:t>Ensuring the technology is built and deployed responsibly, fairly, and transparently.</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39" name="Google Shape;626;p49"/>
          <p:cNvSpPr/>
          <p:nvPr/>
        </p:nvSpPr>
        <p:spPr>
          <a:xfrm>
            <a:off x="571680" y="571680"/>
            <a:ext cx="5550480" cy="10054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Privacy &amp; Responsible AI</a:t>
            </a:r>
            <a:endParaRPr b="0" lang="en-US" sz="3300" spc="-1" strike="noStrike">
              <a:solidFill>
                <a:srgbClr val="ffffff"/>
              </a:solidFill>
              <a:latin typeface="Arial"/>
            </a:endParaRPr>
          </a:p>
        </p:txBody>
      </p:sp>
      <p:pic>
        <p:nvPicPr>
          <p:cNvPr id="440" name="Google Shape;627;p49" descr="image.png"/>
          <p:cNvPicPr/>
          <p:nvPr/>
        </p:nvPicPr>
        <p:blipFill>
          <a:blip r:embed="rId1"/>
          <a:stretch/>
        </p:blipFill>
        <p:spPr>
          <a:xfrm>
            <a:off x="6334200" y="0"/>
            <a:ext cx="5857560" cy="6857640"/>
          </a:xfrm>
          <a:prstGeom prst="rect">
            <a:avLst/>
          </a:prstGeom>
          <a:ln w="0">
            <a:noFill/>
          </a:ln>
        </p:spPr>
      </p:pic>
      <p:sp>
        <p:nvSpPr>
          <p:cNvPr id="441" name="Google Shape;628;p49"/>
          <p:cNvSpPr/>
          <p:nvPr/>
        </p:nvSpPr>
        <p:spPr>
          <a:xfrm>
            <a:off x="571680" y="1476360"/>
            <a:ext cx="5550480" cy="3204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Data Privacy</a:t>
            </a:r>
            <a:endParaRPr b="0" lang="en-US" sz="2100" spc="-1" strike="noStrike">
              <a:solidFill>
                <a:srgbClr val="ffffff"/>
              </a:solidFill>
              <a:latin typeface="Arial"/>
            </a:endParaRPr>
          </a:p>
        </p:txBody>
      </p:sp>
      <p:sp>
        <p:nvSpPr>
          <p:cNvPr id="442" name="Google Shape;629;p49"/>
          <p:cNvSpPr/>
          <p:nvPr/>
        </p:nvSpPr>
        <p:spPr>
          <a:xfrm>
            <a:off x="571680" y="1905120"/>
            <a:ext cx="5285880" cy="10976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Zero personally identifiable information (PII) was collected. Images focus strictly on hand regions and are used exclusively for training without permanent backend storage.</a:t>
            </a:r>
            <a:endParaRPr b="0" lang="en-US" sz="1500" spc="-1" strike="noStrike">
              <a:solidFill>
                <a:srgbClr val="ffffff"/>
              </a:solidFill>
              <a:latin typeface="Arial"/>
            </a:endParaRPr>
          </a:p>
        </p:txBody>
      </p:sp>
      <p:sp>
        <p:nvSpPr>
          <p:cNvPr id="443" name="Google Shape;630;p49"/>
          <p:cNvSpPr/>
          <p:nvPr/>
        </p:nvSpPr>
        <p:spPr>
          <a:xfrm>
            <a:off x="571680" y="3467160"/>
            <a:ext cx="5550480" cy="3204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Fairness &amp; Transparency</a:t>
            </a:r>
            <a:endParaRPr b="0" lang="en-US" sz="2100" spc="-1" strike="noStrike">
              <a:solidFill>
                <a:srgbClr val="ffffff"/>
              </a:solidFill>
              <a:latin typeface="Arial"/>
            </a:endParaRPr>
          </a:p>
        </p:txBody>
      </p:sp>
      <p:sp>
        <p:nvSpPr>
          <p:cNvPr id="444" name="Google Shape;631;p49"/>
          <p:cNvSpPr/>
          <p:nvPr/>
        </p:nvSpPr>
        <p:spPr>
          <a:xfrm>
            <a:off x="571680" y="3895560"/>
            <a:ext cx="5285880" cy="109692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Demographic diversity and data augmentation minimize systemic bias. Bounding boxes ensure the AI's "thought process" is fully visible and explainable to the end-user.</a:t>
            </a:r>
            <a:endParaRPr b="0" lang="en-US" sz="1500" spc="-1" strike="noStrike">
              <a:solidFill>
                <a:srgbClr val="ffffff"/>
              </a:solidFill>
              <a:latin typeface="Arial"/>
            </a:endParaRPr>
          </a:p>
        </p:txBody>
      </p:sp>
      <p:sp>
        <p:nvSpPr>
          <p:cNvPr id="445" name="Google Shape;632;p49"/>
          <p:cNvSpPr/>
          <p:nvPr/>
        </p:nvSpPr>
        <p:spPr>
          <a:xfrm>
            <a:off x="571680" y="5153040"/>
            <a:ext cx="5550480" cy="3204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100" spc="-1" strike="noStrike">
                <a:solidFill>
                  <a:srgbClr val="38bdf8"/>
                </a:solidFill>
                <a:latin typeface="Outfit SemiBold"/>
                <a:ea typeface="Outfit SemiBold"/>
              </a:rPr>
              <a:t>Safe Usage Limits</a:t>
            </a:r>
            <a:endParaRPr b="0" lang="en-US" sz="2100" spc="-1" strike="noStrike">
              <a:solidFill>
                <a:srgbClr val="ffffff"/>
              </a:solidFill>
              <a:latin typeface="Arial"/>
            </a:endParaRPr>
          </a:p>
        </p:txBody>
      </p:sp>
      <p:sp>
        <p:nvSpPr>
          <p:cNvPr id="446" name="Google Shape;633;p49"/>
          <p:cNvSpPr/>
          <p:nvPr/>
        </p:nvSpPr>
        <p:spPr>
          <a:xfrm>
            <a:off x="571680" y="558180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Designed explicitly as an educational support tool, not a diagnostic medical device.</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447" name="Google Shape;638;p50" descr="image.png"/>
          <p:cNvPicPr/>
          <p:nvPr/>
        </p:nvPicPr>
        <p:blipFill>
          <a:blip r:embed="rId1"/>
          <a:stretch/>
        </p:blipFill>
        <p:spPr>
          <a:xfrm>
            <a:off x="571680" y="1433520"/>
            <a:ext cx="3428640" cy="4895640"/>
          </a:xfrm>
          <a:prstGeom prst="rect">
            <a:avLst/>
          </a:prstGeom>
          <a:ln w="0">
            <a:noFill/>
          </a:ln>
        </p:spPr>
      </p:pic>
      <p:pic>
        <p:nvPicPr>
          <p:cNvPr id="448" name="Google Shape;639;p50" descr="image.png"/>
          <p:cNvPicPr/>
          <p:nvPr/>
        </p:nvPicPr>
        <p:blipFill>
          <a:blip r:embed="rId2"/>
          <a:stretch/>
        </p:blipFill>
        <p:spPr>
          <a:xfrm>
            <a:off x="4381560" y="1433520"/>
            <a:ext cx="3428640" cy="4895640"/>
          </a:xfrm>
          <a:prstGeom prst="rect">
            <a:avLst/>
          </a:prstGeom>
          <a:ln w="0">
            <a:noFill/>
          </a:ln>
        </p:spPr>
      </p:pic>
      <p:pic>
        <p:nvPicPr>
          <p:cNvPr id="449" name="Google Shape;640;p50" descr="image.png"/>
          <p:cNvPicPr/>
          <p:nvPr/>
        </p:nvPicPr>
        <p:blipFill>
          <a:blip r:embed="rId3"/>
          <a:stretch/>
        </p:blipFill>
        <p:spPr>
          <a:xfrm>
            <a:off x="8191440" y="1433520"/>
            <a:ext cx="3428640" cy="4895640"/>
          </a:xfrm>
          <a:prstGeom prst="rect">
            <a:avLst/>
          </a:prstGeom>
          <a:ln w="0">
            <a:noFill/>
          </a:ln>
        </p:spPr>
      </p:pic>
      <p:sp>
        <p:nvSpPr>
          <p:cNvPr id="450" name="Google Shape;641;p50"/>
          <p:cNvSpPr/>
          <p:nvPr/>
        </p:nvSpPr>
        <p:spPr>
          <a:xfrm>
            <a:off x="1090800" y="2604960"/>
            <a:ext cx="239004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ChatGPT (OpenAI)</a:t>
            </a:r>
            <a:endParaRPr b="0" lang="en-US" sz="2100" spc="-1" strike="noStrike">
              <a:solidFill>
                <a:srgbClr val="ffffff"/>
              </a:solidFill>
              <a:latin typeface="Arial"/>
            </a:endParaRPr>
          </a:p>
        </p:txBody>
      </p:sp>
      <p:sp>
        <p:nvSpPr>
          <p:cNvPr id="451" name="Google Shape;642;p50"/>
          <p:cNvSpPr/>
          <p:nvPr/>
        </p:nvSpPr>
        <p:spPr>
          <a:xfrm>
            <a:off x="866880" y="3090960"/>
            <a:ext cx="2838240" cy="329148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Utilized as a supplementary research assistant for understanding object detection methodologies, exploring implementation strategies, and proofreading complex documentation. </a:t>
            </a:r>
            <a:r>
              <a:rPr b="1" lang="en-US" sz="1500" spc="-1" strike="noStrike">
                <a:solidFill>
                  <a:srgbClr val="cbd5e1"/>
                </a:solidFill>
                <a:latin typeface="Inter"/>
                <a:ea typeface="Inter"/>
              </a:rPr>
              <a:t>All outputs were strictly human-verified.</a:t>
            </a:r>
            <a:endParaRPr b="0" lang="en-US" sz="1500" spc="-1" strike="noStrike">
              <a:solidFill>
                <a:srgbClr val="ffffff"/>
              </a:solidFill>
              <a:latin typeface="Arial"/>
            </a:endParaRPr>
          </a:p>
        </p:txBody>
      </p:sp>
      <p:sp>
        <p:nvSpPr>
          <p:cNvPr id="452" name="Google Shape;643;p50"/>
          <p:cNvSpPr/>
          <p:nvPr/>
        </p:nvSpPr>
        <p:spPr>
          <a:xfrm>
            <a:off x="5495760" y="2604960"/>
            <a:ext cx="119988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Roboflow</a:t>
            </a:r>
            <a:endParaRPr b="0" lang="en-US" sz="2100" spc="-1" strike="noStrike">
              <a:solidFill>
                <a:srgbClr val="ffffff"/>
              </a:solidFill>
              <a:latin typeface="Arial"/>
            </a:endParaRPr>
          </a:p>
        </p:txBody>
      </p:sp>
      <p:sp>
        <p:nvSpPr>
          <p:cNvPr id="453" name="Google Shape;644;p50"/>
          <p:cNvSpPr/>
          <p:nvPr/>
        </p:nvSpPr>
        <p:spPr>
          <a:xfrm>
            <a:off x="4676760" y="3090960"/>
            <a:ext cx="2838240" cy="292572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Leveraged heavily for dataset management, image preprocessing, and data augmentation. Auto-labelling features accelerated workflows, though every label was subjected to rigorous manual quality control.</a:t>
            </a:r>
            <a:endParaRPr b="0" lang="en-US" sz="1500" spc="-1" strike="noStrike">
              <a:solidFill>
                <a:srgbClr val="ffffff"/>
              </a:solidFill>
              <a:latin typeface="Arial"/>
            </a:endParaRPr>
          </a:p>
        </p:txBody>
      </p:sp>
      <p:sp>
        <p:nvSpPr>
          <p:cNvPr id="454" name="Google Shape;645;p50"/>
          <p:cNvSpPr/>
          <p:nvPr/>
        </p:nvSpPr>
        <p:spPr>
          <a:xfrm>
            <a:off x="8605800" y="2604960"/>
            <a:ext cx="2599920" cy="6397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0" lang="en-US" sz="2100" spc="-1" strike="noStrike">
                <a:solidFill>
                  <a:srgbClr val="38bdf8"/>
                </a:solidFill>
                <a:latin typeface="Outfit SemiBold"/>
                <a:ea typeface="Outfit SemiBold"/>
              </a:rPr>
              <a:t>YOLOv8 (Ultralytics)</a:t>
            </a:r>
            <a:endParaRPr b="0" lang="en-US" sz="2100" spc="-1" strike="noStrike">
              <a:solidFill>
                <a:srgbClr val="ffffff"/>
              </a:solidFill>
              <a:latin typeface="Arial"/>
            </a:endParaRPr>
          </a:p>
        </p:txBody>
      </p:sp>
      <p:sp>
        <p:nvSpPr>
          <p:cNvPr id="455" name="Google Shape;646;p50"/>
          <p:cNvSpPr/>
          <p:nvPr/>
        </p:nvSpPr>
        <p:spPr>
          <a:xfrm>
            <a:off x="8486640" y="3090960"/>
            <a:ext cx="2838240" cy="25599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cbd5e1"/>
                </a:solidFill>
                <a:latin typeface="Inter"/>
                <a:ea typeface="Inter"/>
              </a:rPr>
              <a:t>Selected as the foundational object detection framework due to its enterprise-grade accuracy and speed. Final model configuration and evaluation remained the strict responsibility of the student team.</a:t>
            </a:r>
            <a:endParaRPr b="0" lang="en-US" sz="1500" spc="-1" strike="noStrike">
              <a:solidFill>
                <a:srgbClr val="ffffff"/>
              </a:solidFill>
              <a:latin typeface="Arial"/>
            </a:endParaRPr>
          </a:p>
        </p:txBody>
      </p:sp>
      <p:pic>
        <p:nvPicPr>
          <p:cNvPr id="456" name="Google Shape;647;p50" descr="image.png"/>
          <p:cNvPicPr/>
          <p:nvPr/>
        </p:nvPicPr>
        <p:blipFill>
          <a:blip r:embed="rId4"/>
          <a:stretch/>
        </p:blipFill>
        <p:spPr>
          <a:xfrm>
            <a:off x="1976400" y="1824120"/>
            <a:ext cx="618840" cy="495000"/>
          </a:xfrm>
          <a:prstGeom prst="rect">
            <a:avLst/>
          </a:prstGeom>
          <a:ln w="0">
            <a:noFill/>
          </a:ln>
        </p:spPr>
      </p:pic>
      <p:pic>
        <p:nvPicPr>
          <p:cNvPr id="457" name="Google Shape;648;p50" descr="image.png"/>
          <p:cNvPicPr/>
          <p:nvPr/>
        </p:nvPicPr>
        <p:blipFill>
          <a:blip r:embed="rId5"/>
          <a:stretch/>
        </p:blipFill>
        <p:spPr>
          <a:xfrm>
            <a:off x="5848200" y="1824120"/>
            <a:ext cx="495000" cy="495000"/>
          </a:xfrm>
          <a:prstGeom prst="rect">
            <a:avLst/>
          </a:prstGeom>
          <a:ln w="0">
            <a:noFill/>
          </a:ln>
        </p:spPr>
      </p:pic>
      <p:pic>
        <p:nvPicPr>
          <p:cNvPr id="458" name="Google Shape;649;p50" descr="image.png"/>
          <p:cNvPicPr/>
          <p:nvPr/>
        </p:nvPicPr>
        <p:blipFill>
          <a:blip r:embed="rId6"/>
          <a:stretch/>
        </p:blipFill>
        <p:spPr>
          <a:xfrm>
            <a:off x="9596520" y="1824120"/>
            <a:ext cx="618840" cy="495000"/>
          </a:xfrm>
          <a:prstGeom prst="rect">
            <a:avLst/>
          </a:prstGeom>
          <a:ln w="0">
            <a:noFill/>
          </a:ln>
        </p:spPr>
      </p:pic>
      <p:sp>
        <p:nvSpPr>
          <p:cNvPr id="459" name="Google Shape;650;p50"/>
          <p:cNvSpPr/>
          <p:nvPr/>
        </p:nvSpPr>
        <p:spPr>
          <a:xfrm>
            <a:off x="571680" y="5284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FAIR Report: AI Tool Usage</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pic>
        <p:nvPicPr>
          <p:cNvPr id="460" name="Google Shape;655;p51" descr="image.png"/>
          <p:cNvPicPr/>
          <p:nvPr/>
        </p:nvPicPr>
        <p:blipFill>
          <a:blip r:embed="rId1"/>
          <a:stretch/>
        </p:blipFill>
        <p:spPr>
          <a:xfrm>
            <a:off x="6334200" y="1600200"/>
            <a:ext cx="5285880" cy="3809520"/>
          </a:xfrm>
          <a:prstGeom prst="rect">
            <a:avLst/>
          </a:prstGeom>
          <a:ln w="0">
            <a:noFill/>
          </a:ln>
        </p:spPr>
      </p:pic>
      <p:sp>
        <p:nvSpPr>
          <p:cNvPr id="461" name="Google Shape;656;p51"/>
          <p:cNvSpPr/>
          <p:nvPr/>
        </p:nvSpPr>
        <p:spPr>
          <a:xfrm>
            <a:off x="571680" y="1600200"/>
            <a:ext cx="5285880" cy="7311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500" spc="-1" strike="noStrike">
                <a:solidFill>
                  <a:srgbClr val="cbd5e1"/>
                </a:solidFill>
                <a:latin typeface="Inter"/>
                <a:ea typeface="Inter"/>
              </a:rPr>
              <a:t>The successful proof-of-concept lays a robust foundation for significant future technological expansions:</a:t>
            </a:r>
            <a:endParaRPr b="0" lang="en-US" sz="1500" spc="-1" strike="noStrike">
              <a:solidFill>
                <a:srgbClr val="ffffff"/>
              </a:solidFill>
              <a:latin typeface="Arial"/>
            </a:endParaRPr>
          </a:p>
        </p:txBody>
      </p:sp>
      <p:sp>
        <p:nvSpPr>
          <p:cNvPr id="462" name="Google Shape;657;p51"/>
          <p:cNvSpPr/>
          <p:nvPr/>
        </p:nvSpPr>
        <p:spPr>
          <a:xfrm>
            <a:off x="704880" y="250524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463" name="Google Shape;658;p51"/>
          <p:cNvSpPr/>
          <p:nvPr/>
        </p:nvSpPr>
        <p:spPr>
          <a:xfrm>
            <a:off x="809640" y="2505240"/>
            <a:ext cx="5047920" cy="73188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Real-Time Video Analytics:</a:t>
            </a:r>
            <a:r>
              <a:rPr b="0" lang="en-US" sz="1500" spc="-1" strike="noStrike">
                <a:solidFill>
                  <a:srgbClr val="cbd5e1"/>
                </a:solidFill>
                <a:latin typeface="Inter"/>
                <a:ea typeface="Inter"/>
              </a:rPr>
              <a:t> Transitioning from static image uploads to live, continuous webcam assessment.</a:t>
            </a:r>
            <a:endParaRPr b="0" lang="en-US" sz="1500" spc="-1" strike="noStrike">
              <a:solidFill>
                <a:srgbClr val="ffffff"/>
              </a:solidFill>
              <a:latin typeface="Arial"/>
            </a:endParaRPr>
          </a:p>
        </p:txBody>
      </p:sp>
      <p:sp>
        <p:nvSpPr>
          <p:cNvPr id="464" name="Google Shape;659;p51"/>
          <p:cNvSpPr/>
          <p:nvPr/>
        </p:nvSpPr>
        <p:spPr>
          <a:xfrm>
            <a:off x="704880" y="357192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465" name="Google Shape;660;p51"/>
          <p:cNvSpPr/>
          <p:nvPr/>
        </p:nvSpPr>
        <p:spPr>
          <a:xfrm>
            <a:off x="809640" y="3571920"/>
            <a:ext cx="50479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Mobile Deployment:</a:t>
            </a:r>
            <a:r>
              <a:rPr b="0" lang="en-US" sz="1500" spc="-1" strike="noStrike">
                <a:solidFill>
                  <a:srgbClr val="cbd5e1"/>
                </a:solidFill>
                <a:latin typeface="Inter"/>
                <a:ea typeface="Inter"/>
              </a:rPr>
              <a:t> Porting the model to mobile edge-devices for on-the-go clinical usage.</a:t>
            </a:r>
            <a:endParaRPr b="0" lang="en-US" sz="1500" spc="-1" strike="noStrike">
              <a:solidFill>
                <a:srgbClr val="ffffff"/>
              </a:solidFill>
              <a:latin typeface="Arial"/>
            </a:endParaRPr>
          </a:p>
        </p:txBody>
      </p:sp>
      <p:sp>
        <p:nvSpPr>
          <p:cNvPr id="466" name="Google Shape;661;p51"/>
          <p:cNvSpPr/>
          <p:nvPr/>
        </p:nvSpPr>
        <p:spPr>
          <a:xfrm>
            <a:off x="704880" y="433404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467" name="Google Shape;662;p51"/>
          <p:cNvSpPr/>
          <p:nvPr/>
        </p:nvSpPr>
        <p:spPr>
          <a:xfrm>
            <a:off x="809640" y="4334040"/>
            <a:ext cx="5047920" cy="73188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Expanded Demographics:</a:t>
            </a:r>
            <a:r>
              <a:rPr b="0" lang="en-US" sz="1500" spc="-1" strike="noStrike">
                <a:solidFill>
                  <a:srgbClr val="cbd5e1"/>
                </a:solidFill>
                <a:latin typeface="Inter"/>
                <a:ea typeface="Inter"/>
              </a:rPr>
              <a:t> Building larger, multi-institutional datasets to ensure absolute global fairness.</a:t>
            </a:r>
            <a:endParaRPr b="0" lang="en-US" sz="1500" spc="-1" strike="noStrike">
              <a:solidFill>
                <a:srgbClr val="ffffff"/>
              </a:solidFill>
              <a:latin typeface="Arial"/>
            </a:endParaRPr>
          </a:p>
        </p:txBody>
      </p:sp>
      <p:sp>
        <p:nvSpPr>
          <p:cNvPr id="468" name="Google Shape;663;p51"/>
          <p:cNvSpPr/>
          <p:nvPr/>
        </p:nvSpPr>
        <p:spPr>
          <a:xfrm>
            <a:off x="704880" y="5400720"/>
            <a:ext cx="104400" cy="2289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500" spc="-1" strike="noStrike">
                <a:solidFill>
                  <a:srgbClr val="cbd5e1"/>
                </a:solidFill>
                <a:latin typeface="Inter"/>
                <a:ea typeface="Inter"/>
              </a:rPr>
              <a:t>•</a:t>
            </a:r>
            <a:endParaRPr b="0" lang="en-US" sz="1500" spc="-1" strike="noStrike">
              <a:solidFill>
                <a:srgbClr val="ffffff"/>
              </a:solidFill>
              <a:latin typeface="Arial"/>
            </a:endParaRPr>
          </a:p>
        </p:txBody>
      </p:sp>
      <p:sp>
        <p:nvSpPr>
          <p:cNvPr id="469" name="Google Shape;664;p51"/>
          <p:cNvSpPr/>
          <p:nvPr/>
        </p:nvSpPr>
        <p:spPr>
          <a:xfrm>
            <a:off x="809640" y="5400720"/>
            <a:ext cx="5047920" cy="731160"/>
          </a:xfrm>
          <a:prstGeom prst="rect">
            <a:avLst/>
          </a:prstGeom>
          <a:noFill/>
          <a:ln w="0">
            <a:noFill/>
          </a:ln>
        </p:spPr>
        <p:style>
          <a:lnRef idx="0"/>
          <a:fillRef idx="0"/>
          <a:effectRef idx="0"/>
          <a:fontRef idx="minor"/>
        </p:style>
        <p:txBody>
          <a:bodyPr lIns="104760" rIns="0" tIns="0" bIns="0" anchor="t">
            <a:spAutoFit/>
          </a:bodyPr>
          <a:p>
            <a:pPr>
              <a:lnSpc>
                <a:spcPct val="160000"/>
              </a:lnSpc>
              <a:tabLst>
                <a:tab algn="l" pos="0"/>
              </a:tabLst>
            </a:pPr>
            <a:r>
              <a:rPr b="1" lang="en-US" sz="1500" spc="-1" strike="noStrike">
                <a:solidFill>
                  <a:srgbClr val="cbd5e1"/>
                </a:solidFill>
                <a:latin typeface="Inter"/>
                <a:ea typeface="Inter"/>
              </a:rPr>
              <a:t>Severity Estimation:</a:t>
            </a:r>
            <a:r>
              <a:rPr b="0" lang="en-US" sz="1500" spc="-1" strike="noStrike">
                <a:solidFill>
                  <a:srgbClr val="cbd5e1"/>
                </a:solidFill>
                <a:latin typeface="Inter"/>
                <a:ea typeface="Inter"/>
              </a:rPr>
              <a:t> Granular quantification of contamination percentage.</a:t>
            </a:r>
            <a:endParaRPr b="0" lang="en-US" sz="1500" spc="-1" strike="noStrike">
              <a:solidFill>
                <a:srgbClr val="ffffff"/>
              </a:solidFill>
              <a:latin typeface="Arial"/>
            </a:endParaRPr>
          </a:p>
        </p:txBody>
      </p:sp>
      <p:pic>
        <p:nvPicPr>
          <p:cNvPr id="470" name="Google Shape;665;p51" descr="image.png"/>
          <p:cNvPicPr/>
          <p:nvPr/>
        </p:nvPicPr>
        <p:blipFill>
          <a:blip r:embed="rId2"/>
          <a:stretch/>
        </p:blipFill>
        <p:spPr>
          <a:xfrm>
            <a:off x="6334200" y="1600200"/>
            <a:ext cx="5285880" cy="3809520"/>
          </a:xfrm>
          <a:prstGeom prst="rect">
            <a:avLst/>
          </a:prstGeom>
          <a:ln w="0">
            <a:noFill/>
          </a:ln>
        </p:spPr>
      </p:pic>
      <p:sp>
        <p:nvSpPr>
          <p:cNvPr id="471" name="Google Shape;666;p51"/>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Future Opportunities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72" name="Google Shape;671;p52"/>
          <p:cNvSpPr/>
          <p:nvPr/>
        </p:nvSpPr>
        <p:spPr>
          <a:xfrm>
            <a:off x="295200" y="1835640"/>
            <a:ext cx="11601000" cy="91476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6000" spc="-1" strike="noStrike">
                <a:solidFill>
                  <a:srgbClr val="38bdf8"/>
                </a:solidFill>
                <a:latin typeface="Outfit"/>
                <a:ea typeface="Outfit"/>
              </a:rPr>
              <a:t>Conclusion &amp; Q&amp;A</a:t>
            </a:r>
            <a:endParaRPr b="0" lang="en-US" sz="6000" spc="-1" strike="noStrike">
              <a:solidFill>
                <a:srgbClr val="ffffff"/>
              </a:solidFill>
              <a:latin typeface="Arial"/>
            </a:endParaRPr>
          </a:p>
        </p:txBody>
      </p:sp>
      <p:sp>
        <p:nvSpPr>
          <p:cNvPr id="473" name="Google Shape;672;p52"/>
          <p:cNvSpPr/>
          <p:nvPr/>
        </p:nvSpPr>
        <p:spPr>
          <a:xfrm>
            <a:off x="571680" y="3026160"/>
            <a:ext cx="11048760" cy="47520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950" spc="-1" strike="noStrike">
                <a:solidFill>
                  <a:srgbClr val="cbd5e1"/>
                </a:solidFill>
                <a:latin typeface="Inter"/>
                <a:ea typeface="Inter"/>
              </a:rPr>
              <a:t>Thank you for your time and attention.</a:t>
            </a:r>
            <a:endParaRPr b="0" lang="en-US" sz="1950" spc="-1" strike="noStrike">
              <a:solidFill>
                <a:srgbClr val="ffffff"/>
              </a:solidFill>
              <a:latin typeface="Arial"/>
            </a:endParaRPr>
          </a:p>
        </p:txBody>
      </p:sp>
      <p:sp>
        <p:nvSpPr>
          <p:cNvPr id="474" name="Google Shape;673;p52"/>
          <p:cNvSpPr/>
          <p:nvPr/>
        </p:nvSpPr>
        <p:spPr>
          <a:xfrm>
            <a:off x="571680" y="3708000"/>
            <a:ext cx="11048760" cy="731160"/>
          </a:xfrm>
          <a:prstGeom prst="rect">
            <a:avLst/>
          </a:prstGeom>
          <a:noFill/>
          <a:ln w="0">
            <a:noFill/>
          </a:ln>
        </p:spPr>
        <p:style>
          <a:lnRef idx="0"/>
          <a:fillRef idx="0"/>
          <a:effectRef idx="0"/>
          <a:fontRef idx="minor"/>
        </p:style>
        <p:txBody>
          <a:bodyPr lIns="0" rIns="0" tIns="0" bIns="0" anchor="t">
            <a:spAutoFit/>
          </a:bodyPr>
          <a:p>
            <a:pPr algn="ctr">
              <a:lnSpc>
                <a:spcPct val="160000"/>
              </a:lnSpc>
              <a:tabLst>
                <a:tab algn="l" pos="0"/>
              </a:tabLst>
            </a:pPr>
            <a:r>
              <a:rPr b="0" lang="en-US" sz="1500" spc="-1" strike="noStrike">
                <a:solidFill>
                  <a:srgbClr val="34d399"/>
                </a:solidFill>
                <a:latin typeface="Inter Medium"/>
                <a:ea typeface="Inter Medium"/>
              </a:rPr>
              <a:t>The project successfully demonstrates that AI and computer vision can accurately classify hand cleanliness, providing a practical, responsibly-developed solution to a real healthcare challenge.</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75" name="Google Shape;679;p53"/>
          <p:cNvSpPr/>
          <p:nvPr/>
        </p:nvSpPr>
        <p:spPr>
          <a:xfrm>
            <a:off x="571680" y="1432800"/>
            <a:ext cx="11048760" cy="98244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76" name="Google Shape;680;p53"/>
          <p:cNvSpPr/>
          <p:nvPr/>
        </p:nvSpPr>
        <p:spPr>
          <a:xfrm>
            <a:off x="571680" y="2415600"/>
            <a:ext cx="11048760" cy="78444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77" name="Google Shape;681;p53"/>
          <p:cNvSpPr/>
          <p:nvPr/>
        </p:nvSpPr>
        <p:spPr>
          <a:xfrm>
            <a:off x="571680" y="3200400"/>
            <a:ext cx="11048760" cy="78444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78" name="Google Shape;682;p53"/>
          <p:cNvSpPr/>
          <p:nvPr/>
        </p:nvSpPr>
        <p:spPr>
          <a:xfrm>
            <a:off x="571680" y="3985200"/>
            <a:ext cx="11048760" cy="78444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79" name="Google Shape;683;p53"/>
          <p:cNvSpPr/>
          <p:nvPr/>
        </p:nvSpPr>
        <p:spPr>
          <a:xfrm>
            <a:off x="571680" y="4770000"/>
            <a:ext cx="11048760" cy="78444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0" name="Google Shape;684;p53"/>
          <p:cNvSpPr/>
          <p:nvPr/>
        </p:nvSpPr>
        <p:spPr>
          <a:xfrm>
            <a:off x="571680" y="24062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1" name="Google Shape;685;p53"/>
          <p:cNvSpPr/>
          <p:nvPr/>
        </p:nvSpPr>
        <p:spPr>
          <a:xfrm>
            <a:off x="571680" y="24062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2" name="Google Shape;686;p53"/>
          <p:cNvSpPr/>
          <p:nvPr/>
        </p:nvSpPr>
        <p:spPr>
          <a:xfrm>
            <a:off x="571680" y="31910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3" name="Google Shape;687;p53"/>
          <p:cNvSpPr/>
          <p:nvPr/>
        </p:nvSpPr>
        <p:spPr>
          <a:xfrm>
            <a:off x="571680" y="31910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4" name="Google Shape;688;p53"/>
          <p:cNvSpPr/>
          <p:nvPr/>
        </p:nvSpPr>
        <p:spPr>
          <a:xfrm>
            <a:off x="571680" y="39758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5" name="Google Shape;689;p53"/>
          <p:cNvSpPr/>
          <p:nvPr/>
        </p:nvSpPr>
        <p:spPr>
          <a:xfrm>
            <a:off x="571680" y="39758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6" name="Google Shape;690;p53"/>
          <p:cNvSpPr/>
          <p:nvPr/>
        </p:nvSpPr>
        <p:spPr>
          <a:xfrm>
            <a:off x="571680" y="47606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7" name="Google Shape;691;p53"/>
          <p:cNvSpPr/>
          <p:nvPr/>
        </p:nvSpPr>
        <p:spPr>
          <a:xfrm>
            <a:off x="571680" y="47606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8" name="Google Shape;692;p53"/>
          <p:cNvSpPr/>
          <p:nvPr/>
        </p:nvSpPr>
        <p:spPr>
          <a:xfrm>
            <a:off x="571680" y="55454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489" name="Google Shape;693;p53"/>
          <p:cNvSpPr/>
          <p:nvPr/>
        </p:nvSpPr>
        <p:spPr>
          <a:xfrm>
            <a:off x="571680" y="554544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pic>
        <p:nvPicPr>
          <p:cNvPr id="490" name="Google Shape;694;p53" descr="image.png"/>
          <p:cNvPicPr/>
          <p:nvPr/>
        </p:nvPicPr>
        <p:blipFill>
          <a:blip r:embed="rId1"/>
          <a:stretch/>
        </p:blipFill>
        <p:spPr>
          <a:xfrm>
            <a:off x="571680" y="1681560"/>
            <a:ext cx="856800" cy="475920"/>
          </a:xfrm>
          <a:prstGeom prst="rect">
            <a:avLst/>
          </a:prstGeom>
          <a:ln w="0">
            <a:noFill/>
          </a:ln>
        </p:spPr>
      </p:pic>
      <p:sp>
        <p:nvSpPr>
          <p:cNvPr id="491" name="Google Shape;695;p53"/>
          <p:cNvSpPr/>
          <p:nvPr/>
        </p:nvSpPr>
        <p:spPr>
          <a:xfrm>
            <a:off x="1666800" y="1575720"/>
            <a:ext cx="9953280" cy="4748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https://img.magnific.com/premium-photo/team-software-development-engineers-having-meeting-artificial-intelligence-research-cent_1313853-216691.jpg?semt=ais_hybrid&amp;w=740&amp;q=80</a:t>
            </a:r>
            <a:endParaRPr b="0" lang="en-US" sz="980" spc="-1" strike="noStrike">
              <a:solidFill>
                <a:srgbClr val="ffffff"/>
              </a:solidFill>
              <a:latin typeface="Arial"/>
            </a:endParaRPr>
          </a:p>
        </p:txBody>
      </p:sp>
      <p:sp>
        <p:nvSpPr>
          <p:cNvPr id="492" name="Google Shape;696;p53"/>
          <p:cNvSpPr/>
          <p:nvPr/>
        </p:nvSpPr>
        <p:spPr>
          <a:xfrm>
            <a:off x="1666800" y="201960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www.magnific.com</a:t>
            </a:r>
            <a:endParaRPr b="0" lang="en-US" sz="1200" spc="-1" strike="noStrike">
              <a:solidFill>
                <a:srgbClr val="ffffff"/>
              </a:solidFill>
              <a:latin typeface="Arial"/>
            </a:endParaRPr>
          </a:p>
        </p:txBody>
      </p:sp>
      <p:pic>
        <p:nvPicPr>
          <p:cNvPr id="493" name="Google Shape;697;p53" descr="image.png"/>
          <p:cNvPicPr/>
          <p:nvPr/>
        </p:nvPicPr>
        <p:blipFill>
          <a:blip r:embed="rId2"/>
          <a:stretch/>
        </p:blipFill>
        <p:spPr>
          <a:xfrm>
            <a:off x="571680" y="2565360"/>
            <a:ext cx="856800" cy="475920"/>
          </a:xfrm>
          <a:prstGeom prst="rect">
            <a:avLst/>
          </a:prstGeom>
          <a:ln w="0">
            <a:noFill/>
          </a:ln>
        </p:spPr>
      </p:pic>
      <p:sp>
        <p:nvSpPr>
          <p:cNvPr id="494" name="Google Shape;698;p53"/>
          <p:cNvSpPr/>
          <p:nvPr/>
        </p:nvSpPr>
        <p:spPr>
          <a:xfrm>
            <a:off x="1666800" y="2558520"/>
            <a:ext cx="9953280" cy="2372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https://static.vecteezy.com/system/resources/previews/070/588/981/large_2x/doctor-washing-hands-in-modern-hospital-setting-photo.jpg</a:t>
            </a:r>
            <a:endParaRPr b="0" lang="en-US" sz="980" spc="-1" strike="noStrike">
              <a:solidFill>
                <a:srgbClr val="ffffff"/>
              </a:solidFill>
              <a:latin typeface="Arial"/>
            </a:endParaRPr>
          </a:p>
        </p:txBody>
      </p:sp>
      <p:sp>
        <p:nvSpPr>
          <p:cNvPr id="495" name="Google Shape;699;p53"/>
          <p:cNvSpPr/>
          <p:nvPr/>
        </p:nvSpPr>
        <p:spPr>
          <a:xfrm>
            <a:off x="1666800" y="280440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www.vecteezy.com</a:t>
            </a:r>
            <a:endParaRPr b="0" lang="en-US" sz="1200" spc="-1" strike="noStrike">
              <a:solidFill>
                <a:srgbClr val="ffffff"/>
              </a:solidFill>
              <a:latin typeface="Arial"/>
            </a:endParaRPr>
          </a:p>
        </p:txBody>
      </p:sp>
      <p:pic>
        <p:nvPicPr>
          <p:cNvPr id="496" name="Google Shape;700;p53" descr="image.png"/>
          <p:cNvPicPr/>
          <p:nvPr/>
        </p:nvPicPr>
        <p:blipFill>
          <a:blip r:embed="rId3"/>
          <a:stretch/>
        </p:blipFill>
        <p:spPr>
          <a:xfrm>
            <a:off x="571680" y="3349800"/>
            <a:ext cx="856800" cy="475920"/>
          </a:xfrm>
          <a:prstGeom prst="rect">
            <a:avLst/>
          </a:prstGeom>
          <a:ln w="0">
            <a:noFill/>
          </a:ln>
        </p:spPr>
      </p:pic>
      <p:sp>
        <p:nvSpPr>
          <p:cNvPr id="497" name="Google Shape;701;p53"/>
          <p:cNvSpPr/>
          <p:nvPr/>
        </p:nvSpPr>
        <p:spPr>
          <a:xfrm>
            <a:off x="1666800" y="3343320"/>
            <a:ext cx="9953280" cy="2372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https://img.freepik.com/premium-vector/agile-scrum-task-kanban-board-with-sticky-notes-team-work-visual-management_503161-581.jpg</a:t>
            </a:r>
            <a:endParaRPr b="0" lang="en-US" sz="980" spc="-1" strike="noStrike">
              <a:solidFill>
                <a:srgbClr val="ffffff"/>
              </a:solidFill>
              <a:latin typeface="Arial"/>
            </a:endParaRPr>
          </a:p>
        </p:txBody>
      </p:sp>
      <p:sp>
        <p:nvSpPr>
          <p:cNvPr id="498" name="Google Shape;702;p53"/>
          <p:cNvSpPr/>
          <p:nvPr/>
        </p:nvSpPr>
        <p:spPr>
          <a:xfrm>
            <a:off x="1666800" y="358920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www.magnific.com</a:t>
            </a:r>
            <a:endParaRPr b="0" lang="en-US" sz="1200" spc="-1" strike="noStrike">
              <a:solidFill>
                <a:srgbClr val="ffffff"/>
              </a:solidFill>
              <a:latin typeface="Arial"/>
            </a:endParaRPr>
          </a:p>
        </p:txBody>
      </p:sp>
      <p:pic>
        <p:nvPicPr>
          <p:cNvPr id="499" name="Google Shape;703;p53" descr="image.png"/>
          <p:cNvPicPr/>
          <p:nvPr/>
        </p:nvPicPr>
        <p:blipFill>
          <a:blip r:embed="rId4"/>
          <a:stretch/>
        </p:blipFill>
        <p:spPr>
          <a:xfrm>
            <a:off x="571680" y="4134600"/>
            <a:ext cx="856800" cy="475920"/>
          </a:xfrm>
          <a:prstGeom prst="rect">
            <a:avLst/>
          </a:prstGeom>
          <a:ln w="0">
            <a:noFill/>
          </a:ln>
        </p:spPr>
      </p:pic>
      <p:sp>
        <p:nvSpPr>
          <p:cNvPr id="500" name="Google Shape;704;p53"/>
          <p:cNvSpPr/>
          <p:nvPr/>
        </p:nvSpPr>
        <p:spPr>
          <a:xfrm>
            <a:off x="1666800" y="4128120"/>
            <a:ext cx="9953280" cy="2372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https://i.redd.it/45sg8c0l5rke1.jpeg</a:t>
            </a:r>
            <a:endParaRPr b="0" lang="en-US" sz="980" spc="-1" strike="noStrike">
              <a:solidFill>
                <a:srgbClr val="ffffff"/>
              </a:solidFill>
              <a:latin typeface="Arial"/>
            </a:endParaRPr>
          </a:p>
        </p:txBody>
      </p:sp>
      <p:sp>
        <p:nvSpPr>
          <p:cNvPr id="501" name="Google Shape;705;p53"/>
          <p:cNvSpPr/>
          <p:nvPr/>
        </p:nvSpPr>
        <p:spPr>
          <a:xfrm>
            <a:off x="1666800" y="437400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www.reddit.com</a:t>
            </a:r>
            <a:endParaRPr b="0" lang="en-US" sz="1200" spc="-1" strike="noStrike">
              <a:solidFill>
                <a:srgbClr val="ffffff"/>
              </a:solidFill>
              <a:latin typeface="Arial"/>
            </a:endParaRPr>
          </a:p>
        </p:txBody>
      </p:sp>
      <p:pic>
        <p:nvPicPr>
          <p:cNvPr id="502" name="Google Shape;706;p53" descr="image.png"/>
          <p:cNvPicPr/>
          <p:nvPr/>
        </p:nvPicPr>
        <p:blipFill>
          <a:blip r:embed="rId5"/>
          <a:stretch/>
        </p:blipFill>
        <p:spPr>
          <a:xfrm>
            <a:off x="571680" y="4919400"/>
            <a:ext cx="856800" cy="475920"/>
          </a:xfrm>
          <a:prstGeom prst="rect">
            <a:avLst/>
          </a:prstGeom>
          <a:ln w="0">
            <a:noFill/>
          </a:ln>
        </p:spPr>
      </p:pic>
      <p:sp>
        <p:nvSpPr>
          <p:cNvPr id="503" name="Google Shape;707;p53"/>
          <p:cNvSpPr/>
          <p:nvPr/>
        </p:nvSpPr>
        <p:spPr>
          <a:xfrm>
            <a:off x="1666800" y="4912920"/>
            <a:ext cx="9953280" cy="2372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https://png.pngtree.com/png-clipart/20250206/original/pngtree-futuristic-artificial-intelligence-concept-with-a-glowing-human-brain-png-image_20339102.png</a:t>
            </a:r>
            <a:endParaRPr b="0" lang="en-US" sz="980" spc="-1" strike="noStrike">
              <a:solidFill>
                <a:srgbClr val="ffffff"/>
              </a:solidFill>
              <a:latin typeface="Arial"/>
            </a:endParaRPr>
          </a:p>
        </p:txBody>
      </p:sp>
      <p:sp>
        <p:nvSpPr>
          <p:cNvPr id="504" name="Google Shape;708;p53"/>
          <p:cNvSpPr/>
          <p:nvPr/>
        </p:nvSpPr>
        <p:spPr>
          <a:xfrm>
            <a:off x="1666800" y="515880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pngtree.com</a:t>
            </a:r>
            <a:endParaRPr b="0" lang="en-US" sz="1200" spc="-1" strike="noStrike">
              <a:solidFill>
                <a:srgbClr val="ffffff"/>
              </a:solidFill>
              <a:latin typeface="Arial"/>
            </a:endParaRPr>
          </a:p>
        </p:txBody>
      </p:sp>
      <p:pic>
        <p:nvPicPr>
          <p:cNvPr id="505" name="Google Shape;709;p53" descr="image.png"/>
          <p:cNvPicPr/>
          <p:nvPr/>
        </p:nvPicPr>
        <p:blipFill>
          <a:blip r:embed="rId6"/>
          <a:stretch/>
        </p:blipFill>
        <p:spPr>
          <a:xfrm>
            <a:off x="571680" y="5704200"/>
            <a:ext cx="856800" cy="475920"/>
          </a:xfrm>
          <a:prstGeom prst="rect">
            <a:avLst/>
          </a:prstGeom>
          <a:ln w="0">
            <a:noFill/>
          </a:ln>
        </p:spPr>
      </p:pic>
      <p:sp>
        <p:nvSpPr>
          <p:cNvPr id="506" name="Google Shape;710;p53"/>
          <p:cNvSpPr/>
          <p:nvPr/>
        </p:nvSpPr>
        <p:spPr>
          <a:xfrm>
            <a:off x="1666800" y="5697720"/>
            <a:ext cx="9953280" cy="2372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https://img.magnific.com/premium-vector/ai-control-dashboard-interface-real-time-data-analytics-performance-monitoring_439195-253.jpg</a:t>
            </a:r>
            <a:endParaRPr b="0" lang="en-US" sz="980" spc="-1" strike="noStrike">
              <a:solidFill>
                <a:srgbClr val="ffffff"/>
              </a:solidFill>
              <a:latin typeface="Arial"/>
            </a:endParaRPr>
          </a:p>
        </p:txBody>
      </p:sp>
      <p:sp>
        <p:nvSpPr>
          <p:cNvPr id="507" name="Google Shape;711;p53"/>
          <p:cNvSpPr/>
          <p:nvPr/>
        </p:nvSpPr>
        <p:spPr>
          <a:xfrm>
            <a:off x="1666800" y="594360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www.magnific.com</a:t>
            </a:r>
            <a:endParaRPr b="0" lang="en-US" sz="1200" spc="-1" strike="noStrike">
              <a:solidFill>
                <a:srgbClr val="ffffff"/>
              </a:solidFill>
              <a:latin typeface="Arial"/>
            </a:endParaRPr>
          </a:p>
        </p:txBody>
      </p:sp>
      <p:sp>
        <p:nvSpPr>
          <p:cNvPr id="508" name="Google Shape;712;p53"/>
          <p:cNvSpPr/>
          <p:nvPr/>
        </p:nvSpPr>
        <p:spPr>
          <a:xfrm>
            <a:off x="571680" y="52812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Image Sources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509" name="Google Shape;717;p54"/>
          <p:cNvSpPr/>
          <p:nvPr/>
        </p:nvSpPr>
        <p:spPr>
          <a:xfrm>
            <a:off x="571680" y="2511000"/>
            <a:ext cx="11048760" cy="98244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510" name="Google Shape;718;p54"/>
          <p:cNvSpPr/>
          <p:nvPr/>
        </p:nvSpPr>
        <p:spPr>
          <a:xfrm>
            <a:off x="571680" y="3493800"/>
            <a:ext cx="11048760" cy="78444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511" name="Google Shape;719;p54"/>
          <p:cNvSpPr/>
          <p:nvPr/>
        </p:nvSpPr>
        <p:spPr>
          <a:xfrm>
            <a:off x="571680" y="348408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512" name="Google Shape;720;p54"/>
          <p:cNvSpPr/>
          <p:nvPr/>
        </p:nvSpPr>
        <p:spPr>
          <a:xfrm>
            <a:off x="571680" y="348408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513" name="Google Shape;721;p54"/>
          <p:cNvSpPr/>
          <p:nvPr/>
        </p:nvSpPr>
        <p:spPr>
          <a:xfrm>
            <a:off x="571680" y="426888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sp>
        <p:nvSpPr>
          <p:cNvPr id="514" name="Google Shape;722;p54"/>
          <p:cNvSpPr/>
          <p:nvPr/>
        </p:nvSpPr>
        <p:spPr>
          <a:xfrm>
            <a:off x="571680" y="4268880"/>
            <a:ext cx="11048760" cy="9000"/>
          </a:xfrm>
          <a:prstGeom prst="rect">
            <a:avLst/>
          </a:prstGeom>
          <a:solidFill>
            <a:srgbClr val="757575"/>
          </a:solidFill>
          <a:ln w="0">
            <a:noFill/>
          </a:ln>
        </p:spPr>
        <p:style>
          <a:lnRef idx="0"/>
          <a:fillRef idx="0"/>
          <a:effectRef idx="0"/>
          <a:fontRef idx="minor"/>
        </p:style>
        <p:txBody>
          <a:bodyPr tIns="4680" bIns="4680" anchor="ctr">
            <a:noAutofit/>
          </a:bodyPr>
          <a:p>
            <a:pPr algn="ctr">
              <a:lnSpc>
                <a:spcPct val="100000"/>
              </a:lnSpc>
              <a:tabLst>
                <a:tab algn="l" pos="0"/>
              </a:tabLst>
            </a:pPr>
            <a:endParaRPr b="0" lang="en-US" sz="1800" spc="-1" strike="noStrike">
              <a:solidFill>
                <a:schemeClr val="dk1"/>
              </a:solidFill>
              <a:latin typeface="Calibri"/>
              <a:ea typeface="Calibri"/>
            </a:endParaRPr>
          </a:p>
        </p:txBody>
      </p:sp>
      <p:pic>
        <p:nvPicPr>
          <p:cNvPr id="515" name="Google Shape;723;p54" descr="image.png"/>
          <p:cNvPicPr/>
          <p:nvPr/>
        </p:nvPicPr>
        <p:blipFill>
          <a:blip r:embed="rId1"/>
          <a:stretch/>
        </p:blipFill>
        <p:spPr>
          <a:xfrm>
            <a:off x="571680" y="2759400"/>
            <a:ext cx="856800" cy="475920"/>
          </a:xfrm>
          <a:prstGeom prst="rect">
            <a:avLst/>
          </a:prstGeom>
          <a:ln w="0">
            <a:noFill/>
          </a:ln>
        </p:spPr>
      </p:pic>
      <p:sp>
        <p:nvSpPr>
          <p:cNvPr id="516" name="Google Shape;724;p54"/>
          <p:cNvSpPr/>
          <p:nvPr/>
        </p:nvSpPr>
        <p:spPr>
          <a:xfrm>
            <a:off x="1666800" y="2653920"/>
            <a:ext cx="9953280" cy="4748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https://static.vecteezy.com/system/resources/thumbnails/026/384/935/small_2x/futuristic-glowing-padlock-with-plexus-lines-and-glitter-particles-a-padlock-in-the-neon-light-style-cyber-security-data-and-privacy-protection-digital-technology-background-vector.jpg</a:t>
            </a:r>
            <a:endParaRPr b="0" lang="en-US" sz="980" spc="-1" strike="noStrike">
              <a:solidFill>
                <a:srgbClr val="ffffff"/>
              </a:solidFill>
              <a:latin typeface="Arial"/>
            </a:endParaRPr>
          </a:p>
        </p:txBody>
      </p:sp>
      <p:sp>
        <p:nvSpPr>
          <p:cNvPr id="517" name="Google Shape;725;p54"/>
          <p:cNvSpPr/>
          <p:nvPr/>
        </p:nvSpPr>
        <p:spPr>
          <a:xfrm>
            <a:off x="1666800" y="309744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www.vecteezy.com</a:t>
            </a:r>
            <a:endParaRPr b="0" lang="en-US" sz="1200" spc="-1" strike="noStrike">
              <a:solidFill>
                <a:srgbClr val="ffffff"/>
              </a:solidFill>
              <a:latin typeface="Arial"/>
            </a:endParaRPr>
          </a:p>
        </p:txBody>
      </p:sp>
      <p:pic>
        <p:nvPicPr>
          <p:cNvPr id="518" name="Google Shape;726;p54" descr="image.png"/>
          <p:cNvPicPr/>
          <p:nvPr/>
        </p:nvPicPr>
        <p:blipFill>
          <a:blip r:embed="rId2"/>
          <a:stretch/>
        </p:blipFill>
        <p:spPr>
          <a:xfrm>
            <a:off x="571680" y="3643200"/>
            <a:ext cx="856800" cy="475920"/>
          </a:xfrm>
          <a:prstGeom prst="rect">
            <a:avLst/>
          </a:prstGeom>
          <a:ln w="0">
            <a:noFill/>
          </a:ln>
        </p:spPr>
      </p:pic>
      <p:sp>
        <p:nvSpPr>
          <p:cNvPr id="519" name="Google Shape;727;p54"/>
          <p:cNvSpPr/>
          <p:nvPr/>
        </p:nvSpPr>
        <p:spPr>
          <a:xfrm>
            <a:off x="1666800" y="3636720"/>
            <a:ext cx="9953280" cy="2372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https://images.presentationgo.com/2025/07/futuristic-microscope-lab.jpg</a:t>
            </a:r>
            <a:endParaRPr b="0" lang="en-US" sz="980" spc="-1" strike="noStrike">
              <a:solidFill>
                <a:srgbClr val="ffffff"/>
              </a:solidFill>
              <a:latin typeface="Arial"/>
            </a:endParaRPr>
          </a:p>
        </p:txBody>
      </p:sp>
      <p:sp>
        <p:nvSpPr>
          <p:cNvPr id="520" name="Google Shape;728;p54"/>
          <p:cNvSpPr/>
          <p:nvPr/>
        </p:nvSpPr>
        <p:spPr>
          <a:xfrm>
            <a:off x="1666800" y="388224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www.presentationgo.com</a:t>
            </a:r>
            <a:endParaRPr b="0" lang="en-US" sz="1200" spc="-1" strike="noStrike">
              <a:solidFill>
                <a:srgbClr val="ffffff"/>
              </a:solidFill>
              <a:latin typeface="Arial"/>
            </a:endParaRPr>
          </a:p>
        </p:txBody>
      </p:sp>
      <p:pic>
        <p:nvPicPr>
          <p:cNvPr id="521" name="Google Shape;729;p54" descr="image.png"/>
          <p:cNvPicPr/>
          <p:nvPr/>
        </p:nvPicPr>
        <p:blipFill>
          <a:blip r:embed="rId3"/>
          <a:stretch/>
        </p:blipFill>
        <p:spPr>
          <a:xfrm>
            <a:off x="571680" y="4527000"/>
            <a:ext cx="856800" cy="475920"/>
          </a:xfrm>
          <a:prstGeom prst="rect">
            <a:avLst/>
          </a:prstGeom>
          <a:ln w="0">
            <a:noFill/>
          </a:ln>
        </p:spPr>
      </p:pic>
      <p:sp>
        <p:nvSpPr>
          <p:cNvPr id="522" name="Google Shape;730;p54"/>
          <p:cNvSpPr/>
          <p:nvPr/>
        </p:nvSpPr>
        <p:spPr>
          <a:xfrm>
            <a:off x="1666800" y="4421520"/>
            <a:ext cx="9953280" cy="47484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980" spc="-1" strike="noStrike">
                <a:solidFill>
                  <a:srgbClr val="cbd5e1"/>
                </a:solidFill>
                <a:latin typeface="Inter"/>
                <a:ea typeface="Inter"/>
              </a:rPr>
              <a:t>https://img.magnific.com/premium-photo/abstract-digital-network-with-glowing-connections-flowing-lines-medical-technology-concept_138943-4523.jpg?semt=ais_hybrid&amp;w=740&amp;q=80</a:t>
            </a:r>
            <a:endParaRPr b="0" lang="en-US" sz="980" spc="-1" strike="noStrike">
              <a:solidFill>
                <a:srgbClr val="ffffff"/>
              </a:solidFill>
              <a:latin typeface="Arial"/>
            </a:endParaRPr>
          </a:p>
        </p:txBody>
      </p:sp>
      <p:sp>
        <p:nvSpPr>
          <p:cNvPr id="523" name="Google Shape;731;p54"/>
          <p:cNvSpPr/>
          <p:nvPr/>
        </p:nvSpPr>
        <p:spPr>
          <a:xfrm>
            <a:off x="1666800" y="4865040"/>
            <a:ext cx="9953280" cy="291960"/>
          </a:xfrm>
          <a:prstGeom prst="rect">
            <a:avLst/>
          </a:prstGeom>
          <a:noFill/>
          <a:ln w="0">
            <a:noFill/>
          </a:ln>
        </p:spPr>
        <p:style>
          <a:lnRef idx="0"/>
          <a:fillRef idx="0"/>
          <a:effectRef idx="0"/>
          <a:fontRef idx="minor"/>
        </p:style>
        <p:txBody>
          <a:bodyPr lIns="0" rIns="0" tIns="0" bIns="0" anchor="t">
            <a:spAutoFit/>
          </a:bodyPr>
          <a:p>
            <a:pPr>
              <a:lnSpc>
                <a:spcPct val="160000"/>
              </a:lnSpc>
              <a:tabLst>
                <a:tab algn="l" pos="0"/>
              </a:tabLst>
            </a:pPr>
            <a:r>
              <a:rPr b="0" lang="en-US" sz="1200" spc="-1" strike="noStrike">
                <a:solidFill>
                  <a:srgbClr val="cbd5e1"/>
                </a:solidFill>
                <a:latin typeface="Inter"/>
                <a:ea typeface="Inter"/>
              </a:rPr>
              <a:t>Source: </a:t>
            </a:r>
            <a:r>
              <a:rPr b="0" lang="en-US" sz="1200" spc="-1" strike="noStrike">
                <a:solidFill>
                  <a:srgbClr val="4f46e5"/>
                </a:solidFill>
                <a:latin typeface="Inter"/>
                <a:ea typeface="Inter"/>
              </a:rPr>
              <a:t>www.magnific.com</a:t>
            </a:r>
            <a:endParaRPr b="0" lang="en-US" sz="1200" spc="-1" strike="noStrike">
              <a:solidFill>
                <a:srgbClr val="ffffff"/>
              </a:solidFill>
              <a:latin typeface="Arial"/>
            </a:endParaRPr>
          </a:p>
        </p:txBody>
      </p:sp>
      <p:sp>
        <p:nvSpPr>
          <p:cNvPr id="524" name="Google Shape;732;p54"/>
          <p:cNvSpPr/>
          <p:nvPr/>
        </p:nvSpPr>
        <p:spPr>
          <a:xfrm>
            <a:off x="571680" y="571680"/>
            <a:ext cx="11601000" cy="5032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3300" spc="-1" strike="noStrike">
                <a:solidFill>
                  <a:srgbClr val="f8fafc"/>
                </a:solidFill>
                <a:latin typeface="Outfit"/>
                <a:ea typeface="Outfit"/>
              </a:rPr>
              <a:t>Image Sources</a:t>
            </a:r>
            <a:endParaRPr b="0" lang="en-US" sz="3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LibreOffice/7.6.1.2$MacOSX_X86_64 LibreOffice_project/f5defcebd022c5bc36bbb79be232cb6926d8f674</Application>
  <AppVersion>15.0000</AppVersion>
  <Words>2624</Words>
  <Paragraphs>359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2026-07-19T00:27:22Z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42</vt:i4>
  </property>
  <property fmtid="{D5CDD505-2E9C-101B-9397-08002B2CF9AE}" pid="3" name="PresentationFormat">
    <vt:lpwstr>Widescreen</vt:lpwstr>
  </property>
  <property fmtid="{D5CDD505-2E9C-101B-9397-08002B2CF9AE}" pid="4" name="Slides">
    <vt:i4>42</vt:i4>
  </property>
</Properties>
</file>